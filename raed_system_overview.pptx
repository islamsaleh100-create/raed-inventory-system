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784124-ABB6-437F-B087-1A6960FD177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AC99C4-8AD8-4B07-B073-122883B1DE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DE5C0-5DA7-499E-BB24-807CB970D2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9D3F97-DB90-4384-A73E-92C10ED720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DBF860-D187-499E-81AC-AC9A1318F0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F0F995-B09A-4856-B637-14DA1607CF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30FD97-B572-4A0E-B29A-6AD17B290C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1FC02-B150-4105-8C8F-CF0946890F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7C300-9BDB-4A73-8EF6-3A5D708D9A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896F99-CA74-4511-89CA-EC6F4756B3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189741-5872-44DA-98C6-582E7DD78D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DC1860-5ECB-48A0-B1CA-A9CC1D5CEB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36763-DDF9-4842-9FDD-72E716A23F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704B8-6C5B-4946-8A76-9D018C2734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7B3ADE-50FF-4FBD-8E51-0174CA84BC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54A46-07D5-4D03-ADD8-CABB3CFE94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E0A09-3CFB-44FC-88CB-0F257FA071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D33D88-450B-440B-B4BC-B374E0C11E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168EFD-0F5E-4D81-8ECB-78DFAD4318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A13635-8917-478D-AA32-7E3D1D3DF7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95329-907A-4936-8EF5-E84B087847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257D0D-F4E6-47EA-BE75-0772FF4270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33842-40A1-4DDB-87C8-EA7B1305BC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0D93AE-ED69-47E0-A225-73E426D8D0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5822F-7288-4CCB-A0B7-5C1B6EDB7E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931D8B-3EBC-46ED-BE2F-E73CE1C7E4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FD02A9-C28B-470E-A3F8-E5241994E7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7207BE-7411-438D-8FC4-227B8833E8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361C49-195F-48C0-8A6F-CFC9DF1CF9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0C772-C87D-42DD-BAC4-F7A2A7B76A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F2F119-B633-4F6F-8EAA-86937CCAD5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D70542-B2AC-4EEF-86EF-01707EB832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727425-43B5-48F9-B365-3A3476C629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8D746-2DCE-4F58-893F-22B332F66D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9E3CE-597F-4427-AEA4-2F818A395D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0225E8-5D37-446C-B3C1-401F80550F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95A2B0-D075-4667-807A-A5FD9EB98E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41BE7A-0A8F-4572-BDE4-692FD3899C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3ECD6F-C7E3-41B3-842C-99F7AF83C2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CAFE59-6A8C-471B-A7B6-3613B2C2AC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B7AD75-8743-4CCC-94C1-913DC32AA7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12BE2-E49E-4FF6-B39F-ABBB6DE728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3D683E-6F1F-4C19-9843-CAE784671E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D641A1-C580-4354-9A93-B30B3543DB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F13269-1EB6-4568-B363-7DAB9E7AF9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34FC57-6894-4633-AD0E-FE17FC2F74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5394960"/>
            <a:ext cx="12191400" cy="7272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5577840"/>
            <a:ext cx="1219140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13320" y="822960"/>
            <a:ext cx="1371240" cy="13712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5715000" y="1124640"/>
            <a:ext cx="767880" cy="76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42316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0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سلسلة </a:t>
            </a:r>
            <a:r>
              <a:rPr lang="en-US" sz="18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ONDA</a:t>
            </a:r>
            <a:r>
              <a:rPr lang="en-US" sz="18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 للمطاعم والمقاهي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288036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56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نظام رائد للمخزون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0" i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منصة متكاملة لإدارة الفروع والمستودعات والجودة والتدريب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594360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عرض تعريفي — </a:t>
            </a:r>
            <a:r>
              <a:rPr lang="en-US" sz="14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548640" y="548640"/>
            <a:ext cx="109440" cy="72720"/>
          </a:xfrm>
          <a:prstGeom prst="ellipse">
            <a:avLst/>
          </a:prstGeom>
          <a:solidFill>
            <a:srgbClr val="D4A853">
              <a:alpha val="70000"/>
            </a:srgbClr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713160" y="548640"/>
            <a:ext cx="109440" cy="72720"/>
          </a:xfrm>
          <a:prstGeom prst="ellipse">
            <a:avLst/>
          </a:prstGeom>
          <a:solidFill>
            <a:srgbClr val="D4A853">
              <a:alpha val="70000"/>
            </a:srgbClr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877680" y="548640"/>
            <a:ext cx="109440" cy="72720"/>
          </a:xfrm>
          <a:prstGeom prst="ellipse">
            <a:avLst/>
          </a:prstGeom>
          <a:solidFill>
            <a:srgbClr val="D4A853">
              <a:alpha val="70000"/>
            </a:srgbClr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11094480" y="548640"/>
            <a:ext cx="109440" cy="72720"/>
          </a:xfrm>
          <a:prstGeom prst="ellipse">
            <a:avLst/>
          </a:prstGeom>
          <a:solidFill>
            <a:srgbClr val="D4A853">
              <a:alpha val="70000"/>
            </a:srgbClr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11259000" y="548640"/>
            <a:ext cx="109440" cy="72720"/>
          </a:xfrm>
          <a:prstGeom prst="ellipse">
            <a:avLst/>
          </a:prstGeom>
          <a:solidFill>
            <a:srgbClr val="D4A853">
              <a:alpha val="70000"/>
            </a:srgbClr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11423520" y="548640"/>
            <a:ext cx="109440" cy="72720"/>
          </a:xfrm>
          <a:prstGeom prst="ellipse">
            <a:avLst/>
          </a:prstGeom>
          <a:solidFill>
            <a:srgbClr val="D4A853">
              <a:alpha val="70000"/>
            </a:srgbClr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النظام في أرقام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677880" y="1645920"/>
            <a:ext cx="2468520" cy="3291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1455120" y="2011680"/>
            <a:ext cx="914040" cy="9140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1656360" y="22129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5"/>
          <p:cNvSpPr/>
          <p:nvPr/>
        </p:nvSpPr>
        <p:spPr>
          <a:xfrm>
            <a:off x="677880" y="310896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3D2817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677880" y="42519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فرع تشغيلي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3466800" y="1645920"/>
            <a:ext cx="2468520" cy="3291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4244040" y="2011680"/>
            <a:ext cx="914040" cy="9140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1" descr="preencoded.png"/>
          <p:cNvPicPr/>
          <p:nvPr/>
        </p:nvPicPr>
        <p:blipFill>
          <a:blip r:embed="rId2"/>
          <a:stretch/>
        </p:blipFill>
        <p:spPr>
          <a:xfrm>
            <a:off x="4445280" y="22129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9"/>
          <p:cNvSpPr/>
          <p:nvPr/>
        </p:nvSpPr>
        <p:spPr>
          <a:xfrm>
            <a:off x="3466800" y="310896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3D281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3466800" y="42519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مستودع رئيسي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6255720" y="1645920"/>
            <a:ext cx="2468520" cy="3291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7032960" y="2011680"/>
            <a:ext cx="914040" cy="9140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2" descr="preencoded.png"/>
          <p:cNvPicPr/>
          <p:nvPr/>
        </p:nvPicPr>
        <p:blipFill>
          <a:blip r:embed="rId3"/>
          <a:stretch/>
        </p:blipFill>
        <p:spPr>
          <a:xfrm>
            <a:off x="7234200" y="22129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3"/>
          <p:cNvSpPr/>
          <p:nvPr/>
        </p:nvSpPr>
        <p:spPr>
          <a:xfrm>
            <a:off x="6255720" y="310896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3D281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6255720" y="42519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دور مستخدم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9044640" y="1645920"/>
            <a:ext cx="2468520" cy="3291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9821880" y="2011680"/>
            <a:ext cx="914040" cy="9140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3" descr="preencoded.png"/>
          <p:cNvPicPr/>
          <p:nvPr/>
        </p:nvPicPr>
        <p:blipFill>
          <a:blip r:embed="rId4"/>
          <a:stretch/>
        </p:blipFill>
        <p:spPr>
          <a:xfrm>
            <a:off x="10023120" y="22129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17"/>
          <p:cNvSpPr/>
          <p:nvPr/>
        </p:nvSpPr>
        <p:spPr>
          <a:xfrm>
            <a:off x="9044640" y="310896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3D281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9044640" y="42519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وحدات نظام متكاملة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457200" y="512064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5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نظام مصمم بالكامل لاحتياجات الشركة — عربي، متعدد المستخدمين، جاهز للتشغيل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0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ما هو نظام رائد؟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457200" y="1371600"/>
            <a:ext cx="7772040" cy="4663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8165520" y="1371600"/>
            <a:ext cx="63720" cy="4663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822960" y="164592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منصة ويب واحدة لكل شيء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822960" y="2286000"/>
            <a:ext cx="72234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نظام رائد ينظّم كل عمليات الشركة في مكان واحد</a:t>
            </a:r>
            <a:r>
              <a:rPr lang="en-US" sz="16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الجرد، الطلبيات، التوصيل، الجودة، التدريب، والوثائق</a:t>
            </a:r>
            <a:r>
              <a:rPr lang="en-US" sz="16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كل موظف يدخل من متصفحه، يشوف ما يخصه فقط</a:t>
            </a: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ويتابع المدير كل فروعه في الوقت الحقيقي</a:t>
            </a:r>
            <a:r>
              <a:rPr lang="en-US" sz="16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بدلاً من ملفات</a:t>
            </a:r>
            <a:r>
              <a:rPr lang="en-US" sz="16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Excel </a:t>
            </a: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متفرقة ومكالمات متكررة</a:t>
            </a: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بيانات واحدة موحّدة — وتقارير فورية</a:t>
            </a:r>
            <a:r>
              <a:rPr lang="en-US" sz="16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8503920" y="1463040"/>
            <a:ext cx="3200040" cy="1051200"/>
          </a:xfrm>
          <a:prstGeom prst="roundRect">
            <a:avLst>
              <a:gd name="adj" fmla="val 8696"/>
            </a:avLst>
          </a:prstGeom>
          <a:solidFill>
            <a:srgbClr val="E8DAB8"/>
          </a:solidFill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10561320" y="1618560"/>
            <a:ext cx="731160" cy="7311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10722240" y="177948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9"/>
          <p:cNvSpPr/>
          <p:nvPr/>
        </p:nvSpPr>
        <p:spPr>
          <a:xfrm>
            <a:off x="8595360" y="16916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فروع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8503920" y="2633400"/>
            <a:ext cx="3200040" cy="1051200"/>
          </a:xfrm>
          <a:prstGeom prst="roundRect">
            <a:avLst>
              <a:gd name="adj" fmla="val 8696"/>
            </a:avLst>
          </a:prstGeom>
          <a:solidFill>
            <a:srgbClr val="E8DAB8"/>
          </a:solidFill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10561320" y="2788920"/>
            <a:ext cx="731160" cy="7311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10722240" y="294984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12"/>
          <p:cNvSpPr/>
          <p:nvPr/>
        </p:nvSpPr>
        <p:spPr>
          <a:xfrm>
            <a:off x="8595360" y="286200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طلبيات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8503920" y="3803760"/>
            <a:ext cx="3200040" cy="1051200"/>
          </a:xfrm>
          <a:prstGeom prst="roundRect">
            <a:avLst>
              <a:gd name="adj" fmla="val 8696"/>
            </a:avLst>
          </a:prstGeom>
          <a:solidFill>
            <a:srgbClr val="E8DAB8"/>
          </a:solidFill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10561320" y="3959280"/>
            <a:ext cx="731160" cy="7311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2" descr="preencoded.png"/>
          <p:cNvPicPr/>
          <p:nvPr/>
        </p:nvPicPr>
        <p:blipFill>
          <a:blip r:embed="rId3"/>
          <a:stretch/>
        </p:blipFill>
        <p:spPr>
          <a:xfrm>
            <a:off x="10722240" y="412020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15"/>
          <p:cNvSpPr/>
          <p:nvPr/>
        </p:nvSpPr>
        <p:spPr>
          <a:xfrm>
            <a:off x="8595360" y="403236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جودة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8503920" y="4974480"/>
            <a:ext cx="3200040" cy="1051200"/>
          </a:xfrm>
          <a:prstGeom prst="roundRect">
            <a:avLst>
              <a:gd name="adj" fmla="val 8696"/>
            </a:avLst>
          </a:prstGeom>
          <a:solidFill>
            <a:srgbClr val="E8DAB8"/>
          </a:solidFill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10561320" y="5129640"/>
            <a:ext cx="731160" cy="7311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preencoded.png"/>
          <p:cNvPicPr/>
          <p:nvPr/>
        </p:nvPicPr>
        <p:blipFill>
          <a:blip r:embed="rId4"/>
          <a:stretch/>
        </p:blipFill>
        <p:spPr>
          <a:xfrm>
            <a:off x="10722240" y="529056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8"/>
          <p:cNvSpPr/>
          <p:nvPr/>
        </p:nvSpPr>
        <p:spPr>
          <a:xfrm>
            <a:off x="8595360" y="520308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تدريب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ماذا تغيّر؟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457200" y="1371600"/>
            <a:ext cx="5577480" cy="4663080"/>
          </a:xfrm>
          <a:prstGeom prst="roundRect">
            <a:avLst>
              <a:gd name="adj" fmla="val 2941"/>
            </a:avLst>
          </a:prstGeom>
          <a:solidFill>
            <a:srgbClr val="F3E6DA"/>
          </a:solidFill>
          <a:ln w="19050">
            <a:solidFill>
              <a:srgbClr val="C5A0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457200" y="1554480"/>
            <a:ext cx="5577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400" b="1" u="none" strike="noStrike">
                <a:solidFill>
                  <a:srgbClr val="8B3A1E"/>
                </a:solidFill>
                <a:effectLst/>
                <a:uFillTx/>
                <a:latin typeface="Arial"/>
                <a:cs typeface="Arial"/>
              </a:rPr>
              <a:t>قبل النظام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5394960" y="2377440"/>
            <a:ext cx="319680" cy="319680"/>
          </a:xfrm>
          <a:prstGeom prst="ellipse">
            <a:avLst/>
          </a:prstGeom>
          <a:solidFill>
            <a:srgbClr val="C5503F"/>
          </a:solidFill>
          <a:ln w="12700">
            <a:solidFill>
              <a:srgbClr val="C55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5394960" y="23774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640080" y="22860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ملفات 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Excel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متعددة في كل فرع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5394960" y="2907720"/>
            <a:ext cx="319680" cy="319680"/>
          </a:xfrm>
          <a:prstGeom prst="ellipse">
            <a:avLst/>
          </a:prstGeom>
          <a:solidFill>
            <a:srgbClr val="C5503F"/>
          </a:solidFill>
          <a:ln w="12700">
            <a:solidFill>
              <a:srgbClr val="C55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5394960" y="29077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640080" y="28162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طلبيات على الواتساب وبالتليفون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5394960" y="3438000"/>
            <a:ext cx="319680" cy="319680"/>
          </a:xfrm>
          <a:prstGeom prst="ellipse">
            <a:avLst/>
          </a:prstGeom>
          <a:solidFill>
            <a:srgbClr val="C5503F"/>
          </a:solidFill>
          <a:ln w="12700">
            <a:solidFill>
              <a:srgbClr val="C55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5394960" y="3438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640080" y="33465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تقييمات جودة على ورق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5394960" y="3968640"/>
            <a:ext cx="319680" cy="319680"/>
          </a:xfrm>
          <a:prstGeom prst="ellipse">
            <a:avLst/>
          </a:prstGeom>
          <a:solidFill>
            <a:srgbClr val="C5503F"/>
          </a:solidFill>
          <a:ln w="12700">
            <a:solidFill>
              <a:srgbClr val="C55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394960" y="39686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640080" y="38772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لا أحد يعرف المخزون الحقيقي لحظياً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5394960" y="4498920"/>
            <a:ext cx="319680" cy="319680"/>
          </a:xfrm>
          <a:prstGeom prst="ellipse">
            <a:avLst/>
          </a:prstGeom>
          <a:solidFill>
            <a:srgbClr val="C5503F"/>
          </a:solidFill>
          <a:ln w="12700">
            <a:solidFill>
              <a:srgbClr val="C55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5394960" y="44989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640080" y="44074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تأخّر الاستلام بلا إشعار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5394960" y="5029200"/>
            <a:ext cx="319680" cy="319680"/>
          </a:xfrm>
          <a:prstGeom prst="ellipse">
            <a:avLst/>
          </a:prstGeom>
          <a:solidFill>
            <a:srgbClr val="C5503F"/>
          </a:solidFill>
          <a:ln w="12700">
            <a:solidFill>
              <a:srgbClr val="C55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5394960" y="5029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640080" y="49377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توثيق الإجراءات التصحيحية ضعيف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6153840" y="1371600"/>
            <a:ext cx="5577480" cy="4663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4"/>
          <p:cNvSpPr/>
          <p:nvPr/>
        </p:nvSpPr>
        <p:spPr>
          <a:xfrm>
            <a:off x="6153840" y="1554480"/>
            <a:ext cx="5577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بعد النظام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11091600" y="235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25"/>
          <p:cNvSpPr/>
          <p:nvPr/>
        </p:nvSpPr>
        <p:spPr>
          <a:xfrm>
            <a:off x="6336720" y="22860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مصدر بيانات واحد لكل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1" descr="preencoded.png"/>
          <p:cNvPicPr/>
          <p:nvPr/>
        </p:nvPicPr>
        <p:blipFill>
          <a:blip r:embed="rId2"/>
          <a:stretch/>
        </p:blipFill>
        <p:spPr>
          <a:xfrm>
            <a:off x="11091600" y="2889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6"/>
          <p:cNvSpPr/>
          <p:nvPr/>
        </p:nvSpPr>
        <p:spPr>
          <a:xfrm>
            <a:off x="6336720" y="28162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طلبيات موثّقة وتتبّع كامل للحالة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3"/>
          <a:stretch/>
        </p:blipFill>
        <p:spPr>
          <a:xfrm>
            <a:off x="11091600" y="3420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27"/>
          <p:cNvSpPr/>
          <p:nvPr/>
        </p:nvSpPr>
        <p:spPr>
          <a:xfrm>
            <a:off x="6336720" y="33465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زيارات جودة رقمية مع صور وتوقيعات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3" descr="preencoded.png"/>
          <p:cNvPicPr/>
          <p:nvPr/>
        </p:nvPicPr>
        <p:blipFill>
          <a:blip r:embed="rId4"/>
          <a:stretch/>
        </p:blipFill>
        <p:spPr>
          <a:xfrm>
            <a:off x="11091600" y="395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28"/>
          <p:cNvSpPr/>
          <p:nvPr/>
        </p:nvSpPr>
        <p:spPr>
          <a:xfrm>
            <a:off x="6336720" y="38772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مخزون لحظي واضح للمدير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4" descr="preencoded.png"/>
          <p:cNvPicPr/>
          <p:nvPr/>
        </p:nvPicPr>
        <p:blipFill>
          <a:blip r:embed="rId5"/>
          <a:stretch/>
        </p:blipFill>
        <p:spPr>
          <a:xfrm>
            <a:off x="11091600" y="44805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29"/>
          <p:cNvSpPr/>
          <p:nvPr/>
        </p:nvSpPr>
        <p:spPr>
          <a:xfrm>
            <a:off x="6336720" y="44074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إشعارات فورية لكل مرحلة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5" descr="preencoded.png"/>
          <p:cNvPicPr/>
          <p:nvPr/>
        </p:nvPicPr>
        <p:blipFill>
          <a:blip r:embed="rId6"/>
          <a:stretch/>
        </p:blipFill>
        <p:spPr>
          <a:xfrm>
            <a:off x="11091600" y="50108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30"/>
          <p:cNvSpPr/>
          <p:nvPr/>
        </p:nvSpPr>
        <p:spPr>
          <a:xfrm>
            <a:off x="6336720" y="49377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إجراءات تصحيحية مربوطة بسجلات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3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خريطة النظام — الوحدات الرئيسية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294120" y="137160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2973240" y="137160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2077200" y="160020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2248200" y="177120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6"/>
          <p:cNvSpPr/>
          <p:nvPr/>
        </p:nvSpPr>
        <p:spPr>
          <a:xfrm>
            <a:off x="431280" y="16459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الجرد والمخزون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431280" y="25146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جرد يومي/أسبوعي/شهري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3247560" y="137160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5926680" y="137160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5030640" y="160020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1" descr="preencoded.png"/>
          <p:cNvPicPr/>
          <p:nvPr/>
        </p:nvPicPr>
        <p:blipFill>
          <a:blip r:embed="rId2"/>
          <a:stretch/>
        </p:blipFill>
        <p:spPr>
          <a:xfrm>
            <a:off x="5201640" y="177120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1"/>
          <p:cNvSpPr/>
          <p:nvPr/>
        </p:nvSpPr>
        <p:spPr>
          <a:xfrm>
            <a:off x="3384720" y="16459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الطلبيات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3384720" y="25146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طلبيات الفروع والتحويل بينها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6201000" y="137160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4"/>
          <p:cNvSpPr/>
          <p:nvPr/>
        </p:nvSpPr>
        <p:spPr>
          <a:xfrm>
            <a:off x="8880120" y="137160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5"/>
          <p:cNvSpPr/>
          <p:nvPr/>
        </p:nvSpPr>
        <p:spPr>
          <a:xfrm>
            <a:off x="7984080" y="160020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2" descr="preencoded.png"/>
          <p:cNvPicPr/>
          <p:nvPr/>
        </p:nvPicPr>
        <p:blipFill>
          <a:blip r:embed="rId3"/>
          <a:stretch/>
        </p:blipFill>
        <p:spPr>
          <a:xfrm>
            <a:off x="8155080" y="177120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6"/>
          <p:cNvSpPr/>
          <p:nvPr/>
        </p:nvSpPr>
        <p:spPr>
          <a:xfrm>
            <a:off x="6338160" y="16459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المستودع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6338160" y="25146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تجهيز وصرف واستلام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9154440" y="137160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1833560" y="137160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0937520" y="160020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3" descr="preencoded.png"/>
          <p:cNvPicPr/>
          <p:nvPr/>
        </p:nvPicPr>
        <p:blipFill>
          <a:blip r:embed="rId4"/>
          <a:stretch/>
        </p:blipFill>
        <p:spPr>
          <a:xfrm>
            <a:off x="11108520" y="177120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21"/>
          <p:cNvSpPr/>
          <p:nvPr/>
        </p:nvSpPr>
        <p:spPr>
          <a:xfrm>
            <a:off x="9291600" y="16459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التوصيل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9291600" y="25146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تتبّع وتصدير </a:t>
            </a:r>
            <a:r>
              <a:rPr lang="en-US" sz="1300" b="0" u="none" strike="noStrike">
                <a:solidFill>
                  <a:srgbClr val="8B6B47"/>
                </a:solidFill>
                <a:effectLst/>
                <a:uFillTx/>
                <a:latin typeface="Arial"/>
                <a:ea typeface="Arial"/>
              </a:rPr>
              <a:t>Excel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294120" y="374904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2973240" y="374904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2077200" y="397764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4" descr="preencoded.png"/>
          <p:cNvPicPr/>
          <p:nvPr/>
        </p:nvPicPr>
        <p:blipFill>
          <a:blip r:embed="rId5"/>
          <a:stretch/>
        </p:blipFill>
        <p:spPr>
          <a:xfrm>
            <a:off x="2248200" y="414864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6"/>
          <p:cNvSpPr/>
          <p:nvPr/>
        </p:nvSpPr>
        <p:spPr>
          <a:xfrm>
            <a:off x="431280" y="402336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الجودة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431280" y="489204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زيارات وإجراءات تصحيحية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>
            <a:off x="3247560" y="374904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5926680" y="374904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0"/>
          <p:cNvSpPr/>
          <p:nvPr/>
        </p:nvSpPr>
        <p:spPr>
          <a:xfrm>
            <a:off x="5030640" y="397764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5" descr="preencoded.png"/>
          <p:cNvPicPr/>
          <p:nvPr/>
        </p:nvPicPr>
        <p:blipFill>
          <a:blip r:embed="rId6"/>
          <a:stretch/>
        </p:blipFill>
        <p:spPr>
          <a:xfrm>
            <a:off x="5201640" y="414864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31"/>
          <p:cNvSpPr/>
          <p:nvPr/>
        </p:nvSpPr>
        <p:spPr>
          <a:xfrm>
            <a:off x="3384720" y="402336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التدريب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2"/>
          <p:cNvSpPr/>
          <p:nvPr/>
        </p:nvSpPr>
        <p:spPr>
          <a:xfrm>
            <a:off x="3384720" y="489204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تقييمات الباريستا والمدراء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3"/>
          <p:cNvSpPr/>
          <p:nvPr/>
        </p:nvSpPr>
        <p:spPr>
          <a:xfrm>
            <a:off x="6201000" y="374904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8880120" y="374904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5"/>
          <p:cNvSpPr/>
          <p:nvPr/>
        </p:nvSpPr>
        <p:spPr>
          <a:xfrm>
            <a:off x="7984080" y="397764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6" descr="preencoded.png"/>
          <p:cNvPicPr/>
          <p:nvPr/>
        </p:nvPicPr>
        <p:blipFill>
          <a:blip r:embed="rId7"/>
          <a:stretch/>
        </p:blipFill>
        <p:spPr>
          <a:xfrm>
            <a:off x="8155080" y="414864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36"/>
          <p:cNvSpPr/>
          <p:nvPr/>
        </p:nvSpPr>
        <p:spPr>
          <a:xfrm>
            <a:off x="6338160" y="402336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الوثائق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7"/>
          <p:cNvSpPr/>
          <p:nvPr/>
        </p:nvSpPr>
        <p:spPr>
          <a:xfrm>
            <a:off x="6338160" y="489204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تراخيص وعقود وتذكيرات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8"/>
          <p:cNvSpPr/>
          <p:nvPr/>
        </p:nvSpPr>
        <p:spPr>
          <a:xfrm>
            <a:off x="9154440" y="3749040"/>
            <a:ext cx="27428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9"/>
          <p:cNvSpPr/>
          <p:nvPr/>
        </p:nvSpPr>
        <p:spPr>
          <a:xfrm>
            <a:off x="11833560" y="3749040"/>
            <a:ext cx="63720" cy="2148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0"/>
          <p:cNvSpPr/>
          <p:nvPr/>
        </p:nvSpPr>
        <p:spPr>
          <a:xfrm>
            <a:off x="10937520" y="397764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7" descr="preencoded.png"/>
          <p:cNvPicPr/>
          <p:nvPr/>
        </p:nvPicPr>
        <p:blipFill>
          <a:blip r:embed="rId8"/>
          <a:stretch/>
        </p:blipFill>
        <p:spPr>
          <a:xfrm>
            <a:off x="11108520" y="414864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41"/>
          <p:cNvSpPr/>
          <p:nvPr/>
        </p:nvSpPr>
        <p:spPr>
          <a:xfrm>
            <a:off x="9291600" y="402336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الإشعارات والإدارة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2"/>
          <p:cNvSpPr/>
          <p:nvPr/>
        </p:nvSpPr>
        <p:spPr>
          <a:xfrm>
            <a:off x="9291600" y="489204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تنبيهات مباشرة لكل دور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3"/>
          <p:cNvSpPr/>
          <p:nvPr/>
        </p:nvSpPr>
        <p:spPr>
          <a:xfrm>
            <a:off x="457200" y="617220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كل وحدة مستقلة، لكنها متكاملة مع باقي النظام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4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5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6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5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الجرد والمخزون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متابعة كميات المخزون الفعلي وتسجيل أي فرق عن الدفتري.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جرد يومي وأسبوعي وشهري مستقل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مقارنة تلقائية مع الكمية الدفترية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أسباب قياسية للفروقات (كسر، سرقة، خطأ إدخال…)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تقارير مفصّلة بالفرع والنوع والتاريخ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تنبيهات عند تكرار فروقات غير مبرّرة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9144000" y="30175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موظف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9144000" y="394704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9144000" y="48769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عمليات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3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4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6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الطلبيات والتحويل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ربط الفروع بالمستودع وببعضها لتغطية النواقص بسرعة.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طلبيات يومية تلقائية أو يدوية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تحويل مباشر بين الفروع للطوارئ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اعتماد بصلاحيات متدرّجة (فرع → منطقة → مستودع)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تتبّع الحالة لحظياً: قيد الاعتماد، تجهيز، صرف، وصول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تصدير الطلبية لـ 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Excel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وطباعة إذن الصرف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9"/>
          <p:cNvSpPr/>
          <p:nvPr/>
        </p:nvSpPr>
        <p:spPr>
          <a:xfrm>
            <a:off x="9144000" y="3017520"/>
            <a:ext cx="23770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موظف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0"/>
          <p:cNvSpPr/>
          <p:nvPr/>
        </p:nvSpPr>
        <p:spPr>
          <a:xfrm>
            <a:off x="9144000" y="3714840"/>
            <a:ext cx="23770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9144000" y="4412160"/>
            <a:ext cx="23770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منطقة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2"/>
          <p:cNvSpPr/>
          <p:nvPr/>
        </p:nvSpPr>
        <p:spPr>
          <a:xfrm>
            <a:off x="9144000" y="5109120"/>
            <a:ext cx="23770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مستودع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4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7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عمليات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إدارة كاملة للمستودع: تجهيز، صرف، استلام.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قائمة تجهيز مفصّلة لكل طلبية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تأكيد التجهيز بكميات فعلية (قد تختلف قليلاً)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إذن صرف موثّق مع التوقيعات الإلكترونية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استلام من الموردين بإدخال خسائر/زيادات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إدارة مخزون المستودع لحظياً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9"/>
          <p:cNvSpPr/>
          <p:nvPr/>
        </p:nvSpPr>
        <p:spPr>
          <a:xfrm>
            <a:off x="9144000" y="30175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موظف مستودع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0"/>
          <p:cNvSpPr/>
          <p:nvPr/>
        </p:nvSpPr>
        <p:spPr>
          <a:xfrm>
            <a:off x="9144000" y="394704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مستودع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1"/>
          <p:cNvSpPr/>
          <p:nvPr/>
        </p:nvSpPr>
        <p:spPr>
          <a:xfrm>
            <a:off x="9144000" y="48769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عمليات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3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4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8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التوصيل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تتبّع الشحنات من المستودع للفرع حتى الاستلام.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تسجيل بيانات السائق والشاحنة والمسار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2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تحديث الحالة: انطلاق، في الطريق، وصول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استيراد وتصدير 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Excel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لقوائم التوصيل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تقارير أوقات التوصيل ومقارنة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تنبيهات للتأخّر غير المعتاد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9"/>
          <p:cNvSpPr/>
          <p:nvPr/>
        </p:nvSpPr>
        <p:spPr>
          <a:xfrm>
            <a:off x="9144000" y="3017520"/>
            <a:ext cx="237708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موظف مستودع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9144000" y="4412160"/>
            <a:ext cx="237708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عمليات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9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الجودة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زيارات جودة رقمية كاملة بالصور والتوقيعات.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قوالب جودة جاهزة بمعايير 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درجات، ملاحظات، صور لكل بند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إجراءات تصحيحية مربوطة بالبنود الراسبة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توقيع إلكتروني للمفتش ومدير الفرع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زيارات متكررة مجدولة وتذكيرات الإعادة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9"/>
          <p:cNvSpPr/>
          <p:nvPr/>
        </p:nvSpPr>
        <p:spPr>
          <a:xfrm>
            <a:off x="9144000" y="30175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مفتش جودة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0"/>
          <p:cNvSpPr/>
          <p:nvPr/>
        </p:nvSpPr>
        <p:spPr>
          <a:xfrm>
            <a:off x="9144000" y="394704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جودة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1"/>
          <p:cNvSpPr/>
          <p:nvPr/>
        </p:nvSpPr>
        <p:spPr>
          <a:xfrm>
            <a:off x="9144000" y="48769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3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4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10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التدريب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تقييم دوري لمستوى الموظفين مع متابعة تطوّرهم.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قوالب للباريستا ومدراء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نماذج أسئلة قابلة للتخصيص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تقييم من المدرب أو مدير المنطقة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نتيجة تلقائية مع تحديد نقاط الضعف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1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سجل تدريبي كامل لكل موظف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9144000" y="30175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مدرب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0"/>
          <p:cNvSpPr/>
          <p:nvPr/>
        </p:nvSpPr>
        <p:spPr>
          <a:xfrm>
            <a:off x="9144000" y="394704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منطقة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9144000" y="48769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3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4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11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الوثائق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أرشيف منظَّم لكل التراخيص والعقود والشهادات.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تصنيف حسب النوع: ترخيص، عقد، شهادة…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تنبيه قبل انتهاء الصلاحية بأيام محدّدة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روابط الوثيقة بالفرع أو المستودع المعني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رفع الملف (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PDF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أو صورة) مع البحث السريع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تقرير بالوثائق منتهية قريباً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9144000" y="30175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مشرف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0"/>
          <p:cNvSpPr/>
          <p:nvPr/>
        </p:nvSpPr>
        <p:spPr>
          <a:xfrm>
            <a:off x="9144000" y="394704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عمليات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1"/>
          <p:cNvSpPr/>
          <p:nvPr/>
        </p:nvSpPr>
        <p:spPr>
          <a:xfrm>
            <a:off x="9144000" y="48769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فرع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3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4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12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وحدة: الإشعارات والإدارة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640080" y="118872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0" name="Image 0" descr="preencoded.png"/>
          <p:cNvPicPr/>
          <p:nvPr/>
        </p:nvPicPr>
        <p:blipFill>
          <a:blip r:embed="rId1"/>
          <a:stretch/>
        </p:blipFill>
        <p:spPr>
          <a:xfrm>
            <a:off x="1002240" y="155088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Text 4"/>
          <p:cNvSpPr/>
          <p:nvPr/>
        </p:nvSpPr>
        <p:spPr>
          <a:xfrm>
            <a:off x="457200" y="30175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pc="400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الغرض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5"/>
          <p:cNvSpPr/>
          <p:nvPr/>
        </p:nvSpPr>
        <p:spPr>
          <a:xfrm>
            <a:off x="777240" y="3429000"/>
            <a:ext cx="13712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457200" y="356616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3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تنبيهات لحظية — وكل ما يحتاجه المشرف في مكان واحد.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2743200" y="1188720"/>
            <a:ext cx="5943240" cy="4800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8622720" y="1188720"/>
            <a:ext cx="63720" cy="4800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3017520" y="14173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المميزات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Image 1" descr="preencoded.png"/>
          <p:cNvPicPr/>
          <p:nvPr/>
        </p:nvPicPr>
        <p:blipFill>
          <a:blip r:embed="rId2"/>
          <a:stretch/>
        </p:blipFill>
        <p:spPr>
          <a:xfrm>
            <a:off x="8092440" y="2249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10"/>
          <p:cNvSpPr/>
          <p:nvPr/>
        </p:nvSpPr>
        <p:spPr>
          <a:xfrm>
            <a:off x="3017520" y="21762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إشعار فوري لكل حدث يخصّ دور المستخدم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2" descr="preencoded.png"/>
          <p:cNvPicPr/>
          <p:nvPr/>
        </p:nvPicPr>
        <p:blipFill>
          <a:blip r:embed="rId3"/>
          <a:stretch/>
        </p:blipFill>
        <p:spPr>
          <a:xfrm>
            <a:off x="809244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11"/>
          <p:cNvSpPr/>
          <p:nvPr/>
        </p:nvSpPr>
        <p:spPr>
          <a:xfrm>
            <a:off x="3017520" y="291708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جرس إشعارات ظاهر على كل الشاشات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3" descr="preencoded.png"/>
          <p:cNvPicPr/>
          <p:nvPr/>
        </p:nvPicPr>
        <p:blipFill>
          <a:blip r:embed="rId4"/>
          <a:stretch/>
        </p:blipFill>
        <p:spPr>
          <a:xfrm>
            <a:off x="8092440" y="3730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2"/>
          <p:cNvSpPr/>
          <p:nvPr/>
        </p:nvSpPr>
        <p:spPr>
          <a:xfrm>
            <a:off x="3017520" y="36576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إدارة المستخدمين والفروع والمستودعات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4" descr="preencoded.png"/>
          <p:cNvPicPr/>
          <p:nvPr/>
        </p:nvPicPr>
        <p:blipFill>
          <a:blip r:embed="rId5"/>
          <a:stretch/>
        </p:blipFill>
        <p:spPr>
          <a:xfrm>
            <a:off x="8092440" y="447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3"/>
          <p:cNvSpPr/>
          <p:nvPr/>
        </p:nvSpPr>
        <p:spPr>
          <a:xfrm>
            <a:off x="3017520" y="439812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إعدادات النظام والتخصيصات المركزية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5" descr="preencoded.png"/>
          <p:cNvPicPr/>
          <p:nvPr/>
        </p:nvPicPr>
        <p:blipFill>
          <a:blip r:embed="rId6"/>
          <a:stretch/>
        </p:blipFill>
        <p:spPr>
          <a:xfrm>
            <a:off x="809244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14"/>
          <p:cNvSpPr/>
          <p:nvPr/>
        </p:nvSpPr>
        <p:spPr>
          <a:xfrm>
            <a:off x="3017520" y="5139000"/>
            <a:ext cx="49374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سجل كامل للعمليات والتغييرات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5"/>
          <p:cNvSpPr/>
          <p:nvPr/>
        </p:nvSpPr>
        <p:spPr>
          <a:xfrm>
            <a:off x="8961120" y="1188720"/>
            <a:ext cx="2742840" cy="4800240"/>
          </a:xfrm>
          <a:prstGeom prst="roundRect">
            <a:avLst>
              <a:gd name="adj" fmla="val 4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6"/>
          <p:cNvSpPr/>
          <p:nvPr/>
        </p:nvSpPr>
        <p:spPr>
          <a:xfrm>
            <a:off x="9921240" y="1463040"/>
            <a:ext cx="822600" cy="822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Image 6" descr="preencoded.png"/>
          <p:cNvPicPr/>
          <p:nvPr/>
        </p:nvPicPr>
        <p:blipFill>
          <a:blip r:embed="rId7"/>
          <a:stretch/>
        </p:blipFill>
        <p:spPr>
          <a:xfrm>
            <a:off x="10102320" y="1644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 17"/>
          <p:cNvSpPr/>
          <p:nvPr/>
        </p:nvSpPr>
        <p:spPr>
          <a:xfrm>
            <a:off x="8961120" y="2331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من يستخدمه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8"/>
          <p:cNvSpPr/>
          <p:nvPr/>
        </p:nvSpPr>
        <p:spPr>
          <a:xfrm>
            <a:off x="9875520" y="2834640"/>
            <a:ext cx="914040" cy="18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9"/>
          <p:cNvSpPr/>
          <p:nvPr/>
        </p:nvSpPr>
        <p:spPr>
          <a:xfrm>
            <a:off x="9144000" y="30175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مشرف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0"/>
          <p:cNvSpPr/>
          <p:nvPr/>
        </p:nvSpPr>
        <p:spPr>
          <a:xfrm>
            <a:off x="9144000" y="394704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النظام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1"/>
          <p:cNvSpPr/>
          <p:nvPr/>
        </p:nvSpPr>
        <p:spPr>
          <a:xfrm>
            <a:off x="9144000" y="4876920"/>
            <a:ext cx="23770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مدير عمليات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3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4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13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الأدوار والصلاحيات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"/>
          <p:cNvSpPr/>
          <p:nvPr/>
        </p:nvSpPr>
        <p:spPr>
          <a:xfrm>
            <a:off x="307800" y="123444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4"/>
          <p:cNvSpPr/>
          <p:nvPr/>
        </p:nvSpPr>
        <p:spPr>
          <a:xfrm>
            <a:off x="2986920" y="123444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"/>
          <p:cNvSpPr/>
          <p:nvPr/>
        </p:nvSpPr>
        <p:spPr>
          <a:xfrm>
            <a:off x="490680" y="137160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مدير النظام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6"/>
          <p:cNvSpPr/>
          <p:nvPr/>
        </p:nvSpPr>
        <p:spPr>
          <a:xfrm>
            <a:off x="490680" y="19202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صلاحيات كاملة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"/>
          <p:cNvSpPr/>
          <p:nvPr/>
        </p:nvSpPr>
        <p:spPr>
          <a:xfrm>
            <a:off x="490680" y="22676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Super Admin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8"/>
          <p:cNvSpPr/>
          <p:nvPr/>
        </p:nvSpPr>
        <p:spPr>
          <a:xfrm>
            <a:off x="3252240" y="123444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9"/>
          <p:cNvSpPr/>
          <p:nvPr/>
        </p:nvSpPr>
        <p:spPr>
          <a:xfrm>
            <a:off x="5931360" y="123444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0"/>
          <p:cNvSpPr/>
          <p:nvPr/>
        </p:nvSpPr>
        <p:spPr>
          <a:xfrm>
            <a:off x="3435120" y="137160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مشرف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1"/>
          <p:cNvSpPr/>
          <p:nvPr/>
        </p:nvSpPr>
        <p:spPr>
          <a:xfrm>
            <a:off x="3435120" y="19202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إدارة المستخدمين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2"/>
          <p:cNvSpPr/>
          <p:nvPr/>
        </p:nvSpPr>
        <p:spPr>
          <a:xfrm>
            <a:off x="3435120" y="22676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Admin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3"/>
          <p:cNvSpPr/>
          <p:nvPr/>
        </p:nvSpPr>
        <p:spPr>
          <a:xfrm>
            <a:off x="6196320" y="123444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4"/>
          <p:cNvSpPr/>
          <p:nvPr/>
        </p:nvSpPr>
        <p:spPr>
          <a:xfrm>
            <a:off x="8875800" y="123444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5"/>
          <p:cNvSpPr/>
          <p:nvPr/>
        </p:nvSpPr>
        <p:spPr>
          <a:xfrm>
            <a:off x="6379200" y="137160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مدير منطقة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6"/>
          <p:cNvSpPr/>
          <p:nvPr/>
        </p:nvSpPr>
        <p:spPr>
          <a:xfrm>
            <a:off x="6379200" y="19202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يتابع فروع منطقته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7"/>
          <p:cNvSpPr/>
          <p:nvPr/>
        </p:nvSpPr>
        <p:spPr>
          <a:xfrm>
            <a:off x="6379200" y="22676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Area Manager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8"/>
          <p:cNvSpPr/>
          <p:nvPr/>
        </p:nvSpPr>
        <p:spPr>
          <a:xfrm>
            <a:off x="9140760" y="123444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9"/>
          <p:cNvSpPr/>
          <p:nvPr/>
        </p:nvSpPr>
        <p:spPr>
          <a:xfrm>
            <a:off x="11819880" y="123444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0"/>
          <p:cNvSpPr/>
          <p:nvPr/>
        </p:nvSpPr>
        <p:spPr>
          <a:xfrm>
            <a:off x="9323640" y="137160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مدير فرع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1"/>
          <p:cNvSpPr/>
          <p:nvPr/>
        </p:nvSpPr>
        <p:spPr>
          <a:xfrm>
            <a:off x="9323640" y="19202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يعتمد طلبيات الفرع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2"/>
          <p:cNvSpPr/>
          <p:nvPr/>
        </p:nvSpPr>
        <p:spPr>
          <a:xfrm>
            <a:off x="9323640" y="22676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Branch Manager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3"/>
          <p:cNvSpPr/>
          <p:nvPr/>
        </p:nvSpPr>
        <p:spPr>
          <a:xfrm>
            <a:off x="307800" y="277056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4"/>
          <p:cNvSpPr/>
          <p:nvPr/>
        </p:nvSpPr>
        <p:spPr>
          <a:xfrm>
            <a:off x="2986920" y="277056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5"/>
          <p:cNvSpPr/>
          <p:nvPr/>
        </p:nvSpPr>
        <p:spPr>
          <a:xfrm>
            <a:off x="490680" y="29077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موظف فرع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6"/>
          <p:cNvSpPr/>
          <p:nvPr/>
        </p:nvSpPr>
        <p:spPr>
          <a:xfrm>
            <a:off x="490680" y="3456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يُدخل الجرد والطلبيات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7"/>
          <p:cNvSpPr/>
          <p:nvPr/>
        </p:nvSpPr>
        <p:spPr>
          <a:xfrm>
            <a:off x="490680" y="3803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Branch User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8"/>
          <p:cNvSpPr/>
          <p:nvPr/>
        </p:nvSpPr>
        <p:spPr>
          <a:xfrm>
            <a:off x="3252240" y="277056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9"/>
          <p:cNvSpPr/>
          <p:nvPr/>
        </p:nvSpPr>
        <p:spPr>
          <a:xfrm>
            <a:off x="5931360" y="277056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0"/>
          <p:cNvSpPr/>
          <p:nvPr/>
        </p:nvSpPr>
        <p:spPr>
          <a:xfrm>
            <a:off x="3435120" y="29077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مدير مستودع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1"/>
          <p:cNvSpPr/>
          <p:nvPr/>
        </p:nvSpPr>
        <p:spPr>
          <a:xfrm>
            <a:off x="3435120" y="3456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التجهيز والصرف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2"/>
          <p:cNvSpPr/>
          <p:nvPr/>
        </p:nvSpPr>
        <p:spPr>
          <a:xfrm>
            <a:off x="3435120" y="3803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Warehouse Manager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3"/>
          <p:cNvSpPr/>
          <p:nvPr/>
        </p:nvSpPr>
        <p:spPr>
          <a:xfrm>
            <a:off x="6196320" y="277056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4"/>
          <p:cNvSpPr/>
          <p:nvPr/>
        </p:nvSpPr>
        <p:spPr>
          <a:xfrm>
            <a:off x="8875800" y="277056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5"/>
          <p:cNvSpPr/>
          <p:nvPr/>
        </p:nvSpPr>
        <p:spPr>
          <a:xfrm>
            <a:off x="6379200" y="29077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موظف مستودع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6"/>
          <p:cNvSpPr/>
          <p:nvPr/>
        </p:nvSpPr>
        <p:spPr>
          <a:xfrm>
            <a:off x="6379200" y="3456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التجهيز والتوصيل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7"/>
          <p:cNvSpPr/>
          <p:nvPr/>
        </p:nvSpPr>
        <p:spPr>
          <a:xfrm>
            <a:off x="6379200" y="3803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Warehouse User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8"/>
          <p:cNvSpPr/>
          <p:nvPr/>
        </p:nvSpPr>
        <p:spPr>
          <a:xfrm>
            <a:off x="9140760" y="277056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9"/>
          <p:cNvSpPr/>
          <p:nvPr/>
        </p:nvSpPr>
        <p:spPr>
          <a:xfrm>
            <a:off x="11819880" y="277056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0"/>
          <p:cNvSpPr/>
          <p:nvPr/>
        </p:nvSpPr>
        <p:spPr>
          <a:xfrm>
            <a:off x="9323640" y="29077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مدير عمليات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1"/>
          <p:cNvSpPr/>
          <p:nvPr/>
        </p:nvSpPr>
        <p:spPr>
          <a:xfrm>
            <a:off x="9323640" y="3456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التقارير والمراقبة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2"/>
          <p:cNvSpPr/>
          <p:nvPr/>
        </p:nvSpPr>
        <p:spPr>
          <a:xfrm>
            <a:off x="9323640" y="3803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Operations Manager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43"/>
          <p:cNvSpPr/>
          <p:nvPr/>
        </p:nvSpPr>
        <p:spPr>
          <a:xfrm>
            <a:off x="307800" y="430668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4"/>
          <p:cNvSpPr/>
          <p:nvPr/>
        </p:nvSpPr>
        <p:spPr>
          <a:xfrm>
            <a:off x="2986920" y="430668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5"/>
          <p:cNvSpPr/>
          <p:nvPr/>
        </p:nvSpPr>
        <p:spPr>
          <a:xfrm>
            <a:off x="490680" y="44438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مفتش جودة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6"/>
          <p:cNvSpPr/>
          <p:nvPr/>
        </p:nvSpPr>
        <p:spPr>
          <a:xfrm>
            <a:off x="490680" y="49924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يسجّل زيارات الجودة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47"/>
          <p:cNvSpPr/>
          <p:nvPr/>
        </p:nvSpPr>
        <p:spPr>
          <a:xfrm>
            <a:off x="490680" y="5340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Quality Visitor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48"/>
          <p:cNvSpPr/>
          <p:nvPr/>
        </p:nvSpPr>
        <p:spPr>
          <a:xfrm>
            <a:off x="3252240" y="430668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49"/>
          <p:cNvSpPr/>
          <p:nvPr/>
        </p:nvSpPr>
        <p:spPr>
          <a:xfrm>
            <a:off x="5931360" y="430668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50"/>
          <p:cNvSpPr/>
          <p:nvPr/>
        </p:nvSpPr>
        <p:spPr>
          <a:xfrm>
            <a:off x="3435120" y="44438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مدير جودة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1"/>
          <p:cNvSpPr/>
          <p:nvPr/>
        </p:nvSpPr>
        <p:spPr>
          <a:xfrm>
            <a:off x="3435120" y="49924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يراجع ويعتمد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2"/>
          <p:cNvSpPr/>
          <p:nvPr/>
        </p:nvSpPr>
        <p:spPr>
          <a:xfrm>
            <a:off x="3435120" y="5340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Quality Manager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53"/>
          <p:cNvSpPr/>
          <p:nvPr/>
        </p:nvSpPr>
        <p:spPr>
          <a:xfrm>
            <a:off x="6196320" y="430668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54"/>
          <p:cNvSpPr/>
          <p:nvPr/>
        </p:nvSpPr>
        <p:spPr>
          <a:xfrm>
            <a:off x="8875800" y="4306680"/>
            <a:ext cx="63720" cy="1371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5"/>
          <p:cNvSpPr/>
          <p:nvPr/>
        </p:nvSpPr>
        <p:spPr>
          <a:xfrm>
            <a:off x="6379200" y="44438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مدرب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6"/>
          <p:cNvSpPr/>
          <p:nvPr/>
        </p:nvSpPr>
        <p:spPr>
          <a:xfrm>
            <a:off x="6379200" y="49924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تقييمات التدريب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57"/>
          <p:cNvSpPr/>
          <p:nvPr/>
        </p:nvSpPr>
        <p:spPr>
          <a:xfrm>
            <a:off x="6379200" y="5340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6B5C"/>
                </a:solidFill>
                <a:effectLst/>
                <a:uFillTx/>
                <a:latin typeface="Arial"/>
                <a:ea typeface="Arial"/>
              </a:rPr>
              <a:t>Trainer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58"/>
          <p:cNvSpPr/>
          <p:nvPr/>
        </p:nvSpPr>
        <p:spPr>
          <a:xfrm>
            <a:off x="457200" y="608076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كل دور يرى فقط ما يخصّه — حماية البيانات تلقائية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59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60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1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14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لوحات التحكم والتحليلات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3"/>
          <p:cNvSpPr/>
          <p:nvPr/>
        </p:nvSpPr>
        <p:spPr>
          <a:xfrm>
            <a:off x="289440" y="1280160"/>
            <a:ext cx="3748680" cy="480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289440" y="1280160"/>
            <a:ext cx="3748680" cy="68544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5"/>
          <p:cNvSpPr/>
          <p:nvPr/>
        </p:nvSpPr>
        <p:spPr>
          <a:xfrm>
            <a:off x="472320" y="137160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استهلاك الفرع اليومي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654840" y="2286000"/>
            <a:ext cx="360" cy="2743200"/>
          </a:xfrm>
          <a:prstGeom prst="line">
            <a:avLst/>
          </a:prstGeom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654840" y="5029200"/>
            <a:ext cx="3200400" cy="360"/>
          </a:xfrm>
          <a:prstGeom prst="line">
            <a:avLst/>
          </a:prstGeom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8"/>
          <p:cNvSpPr/>
          <p:nvPr/>
        </p:nvSpPr>
        <p:spPr>
          <a:xfrm flipV="1">
            <a:off x="837720" y="3931920"/>
            <a:ext cx="731520" cy="640080"/>
          </a:xfrm>
          <a:prstGeom prst="line">
            <a:avLst/>
          </a:prstGeom>
          <a:ln w="381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9"/>
          <p:cNvSpPr/>
          <p:nvPr/>
        </p:nvSpPr>
        <p:spPr>
          <a:xfrm>
            <a:off x="1569240" y="3931920"/>
            <a:ext cx="731520" cy="182880"/>
          </a:xfrm>
          <a:prstGeom prst="line">
            <a:avLst/>
          </a:prstGeom>
          <a:ln w="381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0"/>
          <p:cNvSpPr/>
          <p:nvPr/>
        </p:nvSpPr>
        <p:spPr>
          <a:xfrm flipV="1">
            <a:off x="2300760" y="3383280"/>
            <a:ext cx="731520" cy="731520"/>
          </a:xfrm>
          <a:prstGeom prst="line">
            <a:avLst/>
          </a:prstGeom>
          <a:ln w="381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1"/>
          <p:cNvSpPr/>
          <p:nvPr/>
        </p:nvSpPr>
        <p:spPr>
          <a:xfrm flipV="1">
            <a:off x="3032280" y="2743200"/>
            <a:ext cx="731520" cy="640080"/>
          </a:xfrm>
          <a:prstGeom prst="line">
            <a:avLst/>
          </a:prstGeom>
          <a:ln w="381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2"/>
          <p:cNvSpPr/>
          <p:nvPr/>
        </p:nvSpPr>
        <p:spPr>
          <a:xfrm>
            <a:off x="765000" y="4498920"/>
            <a:ext cx="145800" cy="1458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3"/>
          <p:cNvSpPr/>
          <p:nvPr/>
        </p:nvSpPr>
        <p:spPr>
          <a:xfrm>
            <a:off x="1496520" y="3858840"/>
            <a:ext cx="145800" cy="1458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4"/>
          <p:cNvSpPr/>
          <p:nvPr/>
        </p:nvSpPr>
        <p:spPr>
          <a:xfrm>
            <a:off x="2228040" y="4041720"/>
            <a:ext cx="145800" cy="1458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5"/>
          <p:cNvSpPr/>
          <p:nvPr/>
        </p:nvSpPr>
        <p:spPr>
          <a:xfrm>
            <a:off x="2959560" y="3310200"/>
            <a:ext cx="145800" cy="1458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6"/>
          <p:cNvSpPr/>
          <p:nvPr/>
        </p:nvSpPr>
        <p:spPr>
          <a:xfrm>
            <a:off x="3691080" y="2670120"/>
            <a:ext cx="145800" cy="1458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7"/>
          <p:cNvSpPr/>
          <p:nvPr/>
        </p:nvSpPr>
        <p:spPr>
          <a:xfrm>
            <a:off x="472320" y="530352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متوسط الاستهلاك لكل صنف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8"/>
          <p:cNvSpPr/>
          <p:nvPr/>
        </p:nvSpPr>
        <p:spPr>
          <a:xfrm>
            <a:off x="4221360" y="1280160"/>
            <a:ext cx="3748680" cy="480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9"/>
          <p:cNvSpPr/>
          <p:nvPr/>
        </p:nvSpPr>
        <p:spPr>
          <a:xfrm>
            <a:off x="4221360" y="1280160"/>
            <a:ext cx="3748680" cy="68544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0"/>
          <p:cNvSpPr/>
          <p:nvPr/>
        </p:nvSpPr>
        <p:spPr>
          <a:xfrm>
            <a:off x="4404240" y="137160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مدة الطلب حتى الاستلام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1"/>
          <p:cNvSpPr/>
          <p:nvPr/>
        </p:nvSpPr>
        <p:spPr>
          <a:xfrm>
            <a:off x="4586760" y="5029200"/>
            <a:ext cx="3200400" cy="360"/>
          </a:xfrm>
          <a:prstGeom prst="line">
            <a:avLst/>
          </a:prstGeom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4586760" y="2286000"/>
            <a:ext cx="360" cy="2743200"/>
          </a:xfrm>
          <a:prstGeom prst="line">
            <a:avLst/>
          </a:prstGeom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3"/>
          <p:cNvSpPr/>
          <p:nvPr/>
        </p:nvSpPr>
        <p:spPr>
          <a:xfrm>
            <a:off x="4861440" y="2834640"/>
            <a:ext cx="365400" cy="219420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4"/>
          <p:cNvSpPr/>
          <p:nvPr/>
        </p:nvSpPr>
        <p:spPr>
          <a:xfrm>
            <a:off x="5455800" y="3566160"/>
            <a:ext cx="365400" cy="146268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25"/>
          <p:cNvSpPr/>
          <p:nvPr/>
        </p:nvSpPr>
        <p:spPr>
          <a:xfrm>
            <a:off x="6050160" y="2377440"/>
            <a:ext cx="365400" cy="2651400"/>
          </a:xfrm>
          <a:prstGeom prst="rect">
            <a:avLst/>
          </a:prstGeom>
          <a:solidFill>
            <a:srgbClr val="D4A853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6"/>
          <p:cNvSpPr/>
          <p:nvPr/>
        </p:nvSpPr>
        <p:spPr>
          <a:xfrm>
            <a:off x="6644520" y="3931920"/>
            <a:ext cx="365400" cy="109692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7"/>
          <p:cNvSpPr/>
          <p:nvPr/>
        </p:nvSpPr>
        <p:spPr>
          <a:xfrm>
            <a:off x="7238880" y="3200400"/>
            <a:ext cx="365400" cy="182844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8"/>
          <p:cNvSpPr/>
          <p:nvPr/>
        </p:nvSpPr>
        <p:spPr>
          <a:xfrm>
            <a:off x="4404240" y="530352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تحديد الفروع أو الأصناف الأبطأ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9"/>
          <p:cNvSpPr/>
          <p:nvPr/>
        </p:nvSpPr>
        <p:spPr>
          <a:xfrm>
            <a:off x="8153280" y="1280160"/>
            <a:ext cx="3748680" cy="480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0"/>
          <p:cNvSpPr/>
          <p:nvPr/>
        </p:nvSpPr>
        <p:spPr>
          <a:xfrm>
            <a:off x="8153280" y="1280160"/>
            <a:ext cx="3748680" cy="68544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1"/>
          <p:cNvSpPr/>
          <p:nvPr/>
        </p:nvSpPr>
        <p:spPr>
          <a:xfrm>
            <a:off x="8336160" y="137160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الفروع الأكثر إجراءات مفتوحة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32"/>
          <p:cNvSpPr/>
          <p:nvPr/>
        </p:nvSpPr>
        <p:spPr>
          <a:xfrm>
            <a:off x="8518680" y="5029200"/>
            <a:ext cx="3200400" cy="360"/>
          </a:xfrm>
          <a:prstGeom prst="line">
            <a:avLst/>
          </a:prstGeom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3"/>
          <p:cNvSpPr/>
          <p:nvPr/>
        </p:nvSpPr>
        <p:spPr>
          <a:xfrm>
            <a:off x="8518680" y="2286000"/>
            <a:ext cx="360" cy="2743200"/>
          </a:xfrm>
          <a:prstGeom prst="line">
            <a:avLst/>
          </a:prstGeom>
          <a:ln w="12700">
            <a:solidFill>
              <a:srgbClr val="8B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34"/>
          <p:cNvSpPr/>
          <p:nvPr/>
        </p:nvSpPr>
        <p:spPr>
          <a:xfrm>
            <a:off x="8793360" y="2468880"/>
            <a:ext cx="365400" cy="2559960"/>
          </a:xfrm>
          <a:prstGeom prst="rect">
            <a:avLst/>
          </a:prstGeom>
          <a:solidFill>
            <a:srgbClr val="D4A853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5"/>
          <p:cNvSpPr/>
          <p:nvPr/>
        </p:nvSpPr>
        <p:spPr>
          <a:xfrm>
            <a:off x="9387720" y="2743200"/>
            <a:ext cx="365400" cy="228564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36"/>
          <p:cNvSpPr/>
          <p:nvPr/>
        </p:nvSpPr>
        <p:spPr>
          <a:xfrm>
            <a:off x="9982080" y="3017520"/>
            <a:ext cx="365400" cy="201132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37"/>
          <p:cNvSpPr/>
          <p:nvPr/>
        </p:nvSpPr>
        <p:spPr>
          <a:xfrm>
            <a:off x="10576440" y="3383280"/>
            <a:ext cx="365400" cy="164556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8"/>
          <p:cNvSpPr/>
          <p:nvPr/>
        </p:nvSpPr>
        <p:spPr>
          <a:xfrm>
            <a:off x="11170800" y="3657600"/>
            <a:ext cx="365400" cy="1371240"/>
          </a:xfrm>
          <a:prstGeom prst="rect">
            <a:avLst/>
          </a:prstGeom>
          <a:solidFill>
            <a:srgbClr val="8B6B4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9"/>
          <p:cNvSpPr/>
          <p:nvPr/>
        </p:nvSpPr>
        <p:spPr>
          <a:xfrm>
            <a:off x="8336160" y="530352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ترتيب الفروع حسب جودة العمليات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40"/>
          <p:cNvSpPr/>
          <p:nvPr/>
        </p:nvSpPr>
        <p:spPr>
          <a:xfrm>
            <a:off x="457200" y="617220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i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القرار بالأرقام، لا بالتخمين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4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42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3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15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التقارير والتصدير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"/>
          <p:cNvSpPr/>
          <p:nvPr/>
        </p:nvSpPr>
        <p:spPr>
          <a:xfrm>
            <a:off x="640080" y="1280160"/>
            <a:ext cx="68576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4"/>
          <p:cNvSpPr/>
          <p:nvPr/>
        </p:nvSpPr>
        <p:spPr>
          <a:xfrm>
            <a:off x="7434000" y="1280160"/>
            <a:ext cx="63720" cy="1005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5"/>
          <p:cNvSpPr/>
          <p:nvPr/>
        </p:nvSpPr>
        <p:spPr>
          <a:xfrm>
            <a:off x="6629400" y="1444680"/>
            <a:ext cx="685440" cy="6854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Image 0" descr="preencoded.png"/>
          <p:cNvPicPr/>
          <p:nvPr/>
        </p:nvPicPr>
        <p:blipFill>
          <a:blip r:embed="rId1"/>
          <a:stretch/>
        </p:blipFill>
        <p:spPr>
          <a:xfrm>
            <a:off x="6780240" y="15955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6"/>
          <p:cNvSpPr/>
          <p:nvPr/>
        </p:nvSpPr>
        <p:spPr>
          <a:xfrm>
            <a:off x="822960" y="141732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تقارير الجودة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7"/>
          <p:cNvSpPr/>
          <p:nvPr/>
        </p:nvSpPr>
        <p:spPr>
          <a:xfrm>
            <a:off x="822960" y="187452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نسب النجاح وبنود الرسوب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8"/>
          <p:cNvSpPr/>
          <p:nvPr/>
        </p:nvSpPr>
        <p:spPr>
          <a:xfrm>
            <a:off x="640080" y="2423160"/>
            <a:ext cx="68576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9"/>
          <p:cNvSpPr/>
          <p:nvPr/>
        </p:nvSpPr>
        <p:spPr>
          <a:xfrm>
            <a:off x="7434000" y="2423160"/>
            <a:ext cx="63720" cy="1005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0"/>
          <p:cNvSpPr/>
          <p:nvPr/>
        </p:nvSpPr>
        <p:spPr>
          <a:xfrm>
            <a:off x="6629400" y="2587680"/>
            <a:ext cx="685440" cy="6854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Image 1" descr="preencoded.png"/>
          <p:cNvPicPr/>
          <p:nvPr/>
        </p:nvPicPr>
        <p:blipFill>
          <a:blip r:embed="rId2"/>
          <a:stretch/>
        </p:blipFill>
        <p:spPr>
          <a:xfrm>
            <a:off x="6780240" y="27385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Text 11"/>
          <p:cNvSpPr/>
          <p:nvPr/>
        </p:nvSpPr>
        <p:spPr>
          <a:xfrm>
            <a:off x="822960" y="256032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تقارير الطلبيات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2"/>
          <p:cNvSpPr/>
          <p:nvPr/>
        </p:nvSpPr>
        <p:spPr>
          <a:xfrm>
            <a:off x="822960" y="301752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فلتر بالفرع والتاريخ والحالة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3"/>
          <p:cNvSpPr/>
          <p:nvPr/>
        </p:nvSpPr>
        <p:spPr>
          <a:xfrm>
            <a:off x="640080" y="3566160"/>
            <a:ext cx="68576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4"/>
          <p:cNvSpPr/>
          <p:nvPr/>
        </p:nvSpPr>
        <p:spPr>
          <a:xfrm>
            <a:off x="7434000" y="3566160"/>
            <a:ext cx="63720" cy="1005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5"/>
          <p:cNvSpPr/>
          <p:nvPr/>
        </p:nvSpPr>
        <p:spPr>
          <a:xfrm>
            <a:off x="6629400" y="3730680"/>
            <a:ext cx="685440" cy="6854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2" descr="preencoded.png"/>
          <p:cNvPicPr/>
          <p:nvPr/>
        </p:nvPicPr>
        <p:blipFill>
          <a:blip r:embed="rId3"/>
          <a:stretch/>
        </p:blipFill>
        <p:spPr>
          <a:xfrm>
            <a:off x="6780240" y="38815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 16"/>
          <p:cNvSpPr/>
          <p:nvPr/>
        </p:nvSpPr>
        <p:spPr>
          <a:xfrm>
            <a:off x="822960" y="370332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تقارير الجرد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7"/>
          <p:cNvSpPr/>
          <p:nvPr/>
        </p:nvSpPr>
        <p:spPr>
          <a:xfrm>
            <a:off x="822960" y="416052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مقارنة الكمية الفعلية بالدفترية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8"/>
          <p:cNvSpPr/>
          <p:nvPr/>
        </p:nvSpPr>
        <p:spPr>
          <a:xfrm>
            <a:off x="640080" y="4709160"/>
            <a:ext cx="68576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9"/>
          <p:cNvSpPr/>
          <p:nvPr/>
        </p:nvSpPr>
        <p:spPr>
          <a:xfrm>
            <a:off x="7434000" y="4709160"/>
            <a:ext cx="63720" cy="10054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0"/>
          <p:cNvSpPr/>
          <p:nvPr/>
        </p:nvSpPr>
        <p:spPr>
          <a:xfrm>
            <a:off x="6629400" y="4873680"/>
            <a:ext cx="685440" cy="6854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8" name="Image 3" descr="preencoded.png"/>
          <p:cNvPicPr/>
          <p:nvPr/>
        </p:nvPicPr>
        <p:blipFill>
          <a:blip r:embed="rId4"/>
          <a:stretch/>
        </p:blipFill>
        <p:spPr>
          <a:xfrm>
            <a:off x="6780240" y="50245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Text 21"/>
          <p:cNvSpPr/>
          <p:nvPr/>
        </p:nvSpPr>
        <p:spPr>
          <a:xfrm>
            <a:off x="822960" y="484632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تقارير التدريب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2"/>
          <p:cNvSpPr/>
          <p:nvPr/>
        </p:nvSpPr>
        <p:spPr>
          <a:xfrm>
            <a:off x="822960" y="530352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مستوى كل موظف عبر الزمن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23"/>
          <p:cNvSpPr/>
          <p:nvPr/>
        </p:nvSpPr>
        <p:spPr>
          <a:xfrm>
            <a:off x="7818120" y="1280160"/>
            <a:ext cx="3913200" cy="4800240"/>
          </a:xfrm>
          <a:prstGeom prst="roundRect">
            <a:avLst>
              <a:gd name="adj" fmla="val 2804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4"/>
          <p:cNvSpPr/>
          <p:nvPr/>
        </p:nvSpPr>
        <p:spPr>
          <a:xfrm>
            <a:off x="7818120" y="1554480"/>
            <a:ext cx="3913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جاهزة للمشاركة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5"/>
          <p:cNvSpPr/>
          <p:nvPr/>
        </p:nvSpPr>
        <p:spPr>
          <a:xfrm>
            <a:off x="9226440" y="2148840"/>
            <a:ext cx="109692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6"/>
          <p:cNvSpPr/>
          <p:nvPr/>
        </p:nvSpPr>
        <p:spPr>
          <a:xfrm>
            <a:off x="8092440" y="2468880"/>
            <a:ext cx="639720" cy="63972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5" name="Image 4" descr="preencoded.png"/>
          <p:cNvPicPr/>
          <p:nvPr/>
        </p:nvPicPr>
        <p:blipFill>
          <a:blip r:embed="rId5"/>
          <a:stretch/>
        </p:blipFill>
        <p:spPr>
          <a:xfrm>
            <a:off x="8233200" y="260964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 27"/>
          <p:cNvSpPr/>
          <p:nvPr/>
        </p:nvSpPr>
        <p:spPr>
          <a:xfrm>
            <a:off x="8915400" y="2541960"/>
            <a:ext cx="254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تصدير </a:t>
            </a:r>
            <a:r>
              <a:rPr lang="en-US" sz="1600" b="1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Excel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28"/>
          <p:cNvSpPr/>
          <p:nvPr/>
        </p:nvSpPr>
        <p:spPr>
          <a:xfrm>
            <a:off x="8092440" y="3319200"/>
            <a:ext cx="639720" cy="63972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8" name="Image 5" descr="preencoded.png"/>
          <p:cNvPicPr/>
          <p:nvPr/>
        </p:nvPicPr>
        <p:blipFill>
          <a:blip r:embed="rId6"/>
          <a:stretch/>
        </p:blipFill>
        <p:spPr>
          <a:xfrm>
            <a:off x="8233200" y="345996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Text 29"/>
          <p:cNvSpPr/>
          <p:nvPr/>
        </p:nvSpPr>
        <p:spPr>
          <a:xfrm>
            <a:off x="8915400" y="3392280"/>
            <a:ext cx="254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طباعة مباشرة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30"/>
          <p:cNvSpPr/>
          <p:nvPr/>
        </p:nvSpPr>
        <p:spPr>
          <a:xfrm>
            <a:off x="8092440" y="4169520"/>
            <a:ext cx="639720" cy="63972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1" name="Image 6" descr="preencoded.png"/>
          <p:cNvPicPr/>
          <p:nvPr/>
        </p:nvPicPr>
        <p:blipFill>
          <a:blip r:embed="rId7"/>
          <a:stretch/>
        </p:blipFill>
        <p:spPr>
          <a:xfrm>
            <a:off x="8233200" y="431064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Text 31"/>
          <p:cNvSpPr/>
          <p:nvPr/>
        </p:nvSpPr>
        <p:spPr>
          <a:xfrm>
            <a:off x="8915400" y="4242960"/>
            <a:ext cx="254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فلترة متقدمة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32"/>
          <p:cNvSpPr/>
          <p:nvPr/>
        </p:nvSpPr>
        <p:spPr>
          <a:xfrm>
            <a:off x="8092440" y="5020200"/>
            <a:ext cx="639720" cy="63972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4" name="Image 7" descr="preencoded.png"/>
          <p:cNvPicPr/>
          <p:nvPr/>
        </p:nvPicPr>
        <p:blipFill>
          <a:blip r:embed="rId8"/>
          <a:stretch/>
        </p:blipFill>
        <p:spPr>
          <a:xfrm>
            <a:off x="8233200" y="516096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Text 33"/>
          <p:cNvSpPr/>
          <p:nvPr/>
        </p:nvSpPr>
        <p:spPr>
          <a:xfrm>
            <a:off x="8915400" y="5093280"/>
            <a:ext cx="254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جدولة تلقائية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34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35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36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16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الأمان والحماية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4952880" y="1371600"/>
            <a:ext cx="2285640" cy="228564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0" descr="preencoded.png"/>
          <p:cNvPicPr/>
          <p:nvPr/>
        </p:nvPicPr>
        <p:blipFill>
          <a:blip r:embed="rId1"/>
          <a:stretch/>
        </p:blipFill>
        <p:spPr>
          <a:xfrm>
            <a:off x="5455800" y="187452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Shape 4"/>
          <p:cNvSpPr/>
          <p:nvPr/>
        </p:nvSpPr>
        <p:spPr>
          <a:xfrm>
            <a:off x="548640" y="1737360"/>
            <a:ext cx="338292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5"/>
          <p:cNvSpPr/>
          <p:nvPr/>
        </p:nvSpPr>
        <p:spPr>
          <a:xfrm>
            <a:off x="3867840" y="1737360"/>
            <a:ext cx="63720" cy="173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6"/>
          <p:cNvSpPr/>
          <p:nvPr/>
        </p:nvSpPr>
        <p:spPr>
          <a:xfrm>
            <a:off x="777240" y="224028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Image 1" descr="preencoded.png"/>
          <p:cNvPicPr/>
          <p:nvPr/>
        </p:nvPicPr>
        <p:blipFill>
          <a:blip r:embed="rId2"/>
          <a:stretch/>
        </p:blipFill>
        <p:spPr>
          <a:xfrm>
            <a:off x="948240" y="241128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Text 7"/>
          <p:cNvSpPr/>
          <p:nvPr/>
        </p:nvSpPr>
        <p:spPr>
          <a:xfrm>
            <a:off x="1645920" y="20116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كلمات مرور قوية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8"/>
          <p:cNvSpPr/>
          <p:nvPr/>
        </p:nvSpPr>
        <p:spPr>
          <a:xfrm>
            <a:off x="1645920" y="26060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٨</a:t>
            </a:r>
            <a:r>
              <a:rPr lang="en-US" sz="1200" b="0" u="none" strike="noStrike">
                <a:solidFill>
                  <a:srgbClr val="8B6B47"/>
                </a:solidFill>
                <a:effectLst/>
                <a:uFillTx/>
                <a:latin typeface="Arial"/>
                <a:ea typeface="Arial"/>
              </a:rPr>
              <a:t> أحرف + حرف كبير + رقم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9"/>
          <p:cNvSpPr/>
          <p:nvPr/>
        </p:nvSpPr>
        <p:spPr>
          <a:xfrm>
            <a:off x="8229600" y="1737360"/>
            <a:ext cx="338292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0"/>
          <p:cNvSpPr/>
          <p:nvPr/>
        </p:nvSpPr>
        <p:spPr>
          <a:xfrm>
            <a:off x="11548800" y="1737360"/>
            <a:ext cx="63720" cy="173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1"/>
          <p:cNvSpPr/>
          <p:nvPr/>
        </p:nvSpPr>
        <p:spPr>
          <a:xfrm>
            <a:off x="8458200" y="224028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2" descr="preencoded.png"/>
          <p:cNvPicPr/>
          <p:nvPr/>
        </p:nvPicPr>
        <p:blipFill>
          <a:blip r:embed="rId3"/>
          <a:stretch/>
        </p:blipFill>
        <p:spPr>
          <a:xfrm>
            <a:off x="8629200" y="241128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 12"/>
          <p:cNvSpPr/>
          <p:nvPr/>
        </p:nvSpPr>
        <p:spPr>
          <a:xfrm>
            <a:off x="9326880" y="20116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صلاحيات مُقيَّدة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3"/>
          <p:cNvSpPr/>
          <p:nvPr/>
        </p:nvSpPr>
        <p:spPr>
          <a:xfrm>
            <a:off x="9326880" y="26060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كل دور يرى ما يخصّه فقط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4"/>
          <p:cNvSpPr/>
          <p:nvPr/>
        </p:nvSpPr>
        <p:spPr>
          <a:xfrm>
            <a:off x="548640" y="4114800"/>
            <a:ext cx="338292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15"/>
          <p:cNvSpPr/>
          <p:nvPr/>
        </p:nvSpPr>
        <p:spPr>
          <a:xfrm>
            <a:off x="3867840" y="4114800"/>
            <a:ext cx="63720" cy="173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6"/>
          <p:cNvSpPr/>
          <p:nvPr/>
        </p:nvSpPr>
        <p:spPr>
          <a:xfrm>
            <a:off x="777240" y="461772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Image 3" descr="preencoded.png"/>
          <p:cNvPicPr/>
          <p:nvPr/>
        </p:nvPicPr>
        <p:blipFill>
          <a:blip r:embed="rId4"/>
          <a:stretch/>
        </p:blipFill>
        <p:spPr>
          <a:xfrm>
            <a:off x="948240" y="478872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Text 17"/>
          <p:cNvSpPr/>
          <p:nvPr/>
        </p:nvSpPr>
        <p:spPr>
          <a:xfrm>
            <a:off x="1645920" y="438912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نسخ احتياطي يومي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8"/>
          <p:cNvSpPr/>
          <p:nvPr/>
        </p:nvSpPr>
        <p:spPr>
          <a:xfrm>
            <a:off x="1645920" y="49834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حماية من فقد البيانات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9"/>
          <p:cNvSpPr/>
          <p:nvPr/>
        </p:nvSpPr>
        <p:spPr>
          <a:xfrm>
            <a:off x="8229600" y="4114800"/>
            <a:ext cx="338292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0"/>
          <p:cNvSpPr/>
          <p:nvPr/>
        </p:nvSpPr>
        <p:spPr>
          <a:xfrm>
            <a:off x="11548800" y="4114800"/>
            <a:ext cx="63720" cy="173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21"/>
          <p:cNvSpPr/>
          <p:nvPr/>
        </p:nvSpPr>
        <p:spPr>
          <a:xfrm>
            <a:off x="8458200" y="4617720"/>
            <a:ext cx="776880" cy="7768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5" name="Image 4" descr="preencoded.png"/>
          <p:cNvPicPr/>
          <p:nvPr/>
        </p:nvPicPr>
        <p:blipFill>
          <a:blip r:embed="rId5"/>
          <a:stretch/>
        </p:blipFill>
        <p:spPr>
          <a:xfrm>
            <a:off x="8629200" y="478872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Text 22"/>
          <p:cNvSpPr/>
          <p:nvPr/>
        </p:nvSpPr>
        <p:spPr>
          <a:xfrm>
            <a:off x="9326880" y="438912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سجل عمليات (</a:t>
            </a:r>
            <a:r>
              <a:rPr lang="en-US" sz="1700" b="1" u="none" strike="noStrike">
                <a:solidFill>
                  <a:srgbClr val="3D2817"/>
                </a:solidFill>
                <a:effectLst/>
                <a:uFillTx/>
                <a:latin typeface="Arial"/>
                <a:ea typeface="Arial"/>
              </a:rPr>
              <a:t>Audit</a:t>
            </a:r>
            <a:r>
              <a:rPr lang="en-US" sz="1700" b="1" u="none" strike="noStrike">
                <a:solidFill>
                  <a:srgbClr val="3D2817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23"/>
          <p:cNvSpPr/>
          <p:nvPr/>
        </p:nvSpPr>
        <p:spPr>
          <a:xfrm>
            <a:off x="9326880" y="49834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تتبّع من فعل ماذا ومتى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24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5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26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17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ثنائي اللغة — عربي وإنجليزي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3"/>
          <p:cNvSpPr/>
          <p:nvPr/>
        </p:nvSpPr>
        <p:spPr>
          <a:xfrm>
            <a:off x="5501520" y="1188720"/>
            <a:ext cx="1188360" cy="11883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5" name="Image 0" descr="preencoded.png"/>
          <p:cNvPicPr/>
          <p:nvPr/>
        </p:nvPicPr>
        <p:blipFill>
          <a:blip r:embed="rId1"/>
          <a:stretch/>
        </p:blipFill>
        <p:spPr>
          <a:xfrm>
            <a:off x="5762880" y="1450080"/>
            <a:ext cx="665280" cy="66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Shape 4"/>
          <p:cNvSpPr/>
          <p:nvPr/>
        </p:nvSpPr>
        <p:spPr>
          <a:xfrm>
            <a:off x="6400800" y="2743200"/>
            <a:ext cx="5330520" cy="31086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5"/>
          <p:cNvSpPr/>
          <p:nvPr/>
        </p:nvSpPr>
        <p:spPr>
          <a:xfrm>
            <a:off x="6400800" y="2834640"/>
            <a:ext cx="533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العربية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6"/>
          <p:cNvSpPr/>
          <p:nvPr/>
        </p:nvSpPr>
        <p:spPr>
          <a:xfrm>
            <a:off x="6583680" y="3383280"/>
            <a:ext cx="49374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5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تقييم تدريبي جديد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5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اسم الموظف: أحمد علي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5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الفرع: الرياض — الملقا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hi-IN" sz="15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النتيجة: </a:t>
            </a:r>
            <a:r>
              <a:rPr lang="hi-IN" sz="15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٨٥</a:t>
            </a:r>
            <a:r>
              <a:rPr lang="hi-IN" sz="15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٪ — ناجح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7"/>
          <p:cNvSpPr/>
          <p:nvPr/>
        </p:nvSpPr>
        <p:spPr>
          <a:xfrm>
            <a:off x="457200" y="2743200"/>
            <a:ext cx="5330520" cy="31086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8"/>
          <p:cNvSpPr/>
          <p:nvPr/>
        </p:nvSpPr>
        <p:spPr>
          <a:xfrm>
            <a:off x="457200" y="2834640"/>
            <a:ext cx="533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English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9"/>
          <p:cNvSpPr/>
          <p:nvPr/>
        </p:nvSpPr>
        <p:spPr>
          <a:xfrm>
            <a:off x="640080" y="3383280"/>
            <a:ext cx="49374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New Training Assessment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Employee: Ahmed Ali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Branch: Riyadh — Al Malqa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Score: 85% — Passed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0"/>
          <p:cNvSpPr/>
          <p:nvPr/>
        </p:nvSpPr>
        <p:spPr>
          <a:xfrm>
            <a:off x="457200" y="598932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بضغطة زرٍّ واحدة — الاتجاه والتواريخ تتغيّر تلقائياً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2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3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18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رحلة يوم — مدير فرع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3"/>
          <p:cNvSpPr/>
          <p:nvPr/>
        </p:nvSpPr>
        <p:spPr>
          <a:xfrm>
            <a:off x="1463040" y="3657600"/>
            <a:ext cx="9262800" cy="360"/>
          </a:xfrm>
          <a:prstGeom prst="line">
            <a:avLst/>
          </a:prstGeom>
          <a:ln w="381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4"/>
          <p:cNvSpPr/>
          <p:nvPr/>
        </p:nvSpPr>
        <p:spPr>
          <a:xfrm>
            <a:off x="960120" y="3154680"/>
            <a:ext cx="1005480" cy="1005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1" name="Image 0" descr="preencoded.png"/>
          <p:cNvPicPr/>
          <p:nvPr/>
        </p:nvPicPr>
        <p:blipFill>
          <a:blip r:embed="rId1"/>
          <a:stretch/>
        </p:blipFill>
        <p:spPr>
          <a:xfrm>
            <a:off x="1181520" y="337608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Text 5"/>
          <p:cNvSpPr/>
          <p:nvPr/>
        </p:nvSpPr>
        <p:spPr>
          <a:xfrm>
            <a:off x="73152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٨:٠٠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6"/>
          <p:cNvSpPr/>
          <p:nvPr/>
        </p:nvSpPr>
        <p:spPr>
          <a:xfrm>
            <a:off x="640080" y="4297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دخول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7"/>
          <p:cNvSpPr/>
          <p:nvPr/>
        </p:nvSpPr>
        <p:spPr>
          <a:xfrm>
            <a:off x="617400" y="4754880"/>
            <a:ext cx="169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تسجيل دخول من المتصفح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8"/>
          <p:cNvSpPr/>
          <p:nvPr/>
        </p:nvSpPr>
        <p:spPr>
          <a:xfrm>
            <a:off x="2812680" y="3154680"/>
            <a:ext cx="1005480" cy="1005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6" name="Image 1" descr="preencoded.png"/>
          <p:cNvPicPr/>
          <p:nvPr/>
        </p:nvPicPr>
        <p:blipFill>
          <a:blip r:embed="rId2"/>
          <a:stretch/>
        </p:blipFill>
        <p:spPr>
          <a:xfrm>
            <a:off x="3034080" y="337608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 9"/>
          <p:cNvSpPr/>
          <p:nvPr/>
        </p:nvSpPr>
        <p:spPr>
          <a:xfrm>
            <a:off x="258408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٨:٣٠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0"/>
          <p:cNvSpPr/>
          <p:nvPr/>
        </p:nvSpPr>
        <p:spPr>
          <a:xfrm>
            <a:off x="2492640" y="4297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جرد صباحي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1"/>
          <p:cNvSpPr/>
          <p:nvPr/>
        </p:nvSpPr>
        <p:spPr>
          <a:xfrm>
            <a:off x="2469960" y="4754880"/>
            <a:ext cx="169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إدخال كميات المخزون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2"/>
          <p:cNvSpPr/>
          <p:nvPr/>
        </p:nvSpPr>
        <p:spPr>
          <a:xfrm>
            <a:off x="4665240" y="3154680"/>
            <a:ext cx="1005480" cy="1005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1" name="Image 2" descr="preencoded.png"/>
          <p:cNvPicPr/>
          <p:nvPr/>
        </p:nvPicPr>
        <p:blipFill>
          <a:blip r:embed="rId3"/>
          <a:stretch/>
        </p:blipFill>
        <p:spPr>
          <a:xfrm>
            <a:off x="4886640" y="337608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Text 13"/>
          <p:cNvSpPr/>
          <p:nvPr/>
        </p:nvSpPr>
        <p:spPr>
          <a:xfrm>
            <a:off x="443664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٩:١٥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4"/>
          <p:cNvSpPr/>
          <p:nvPr/>
        </p:nvSpPr>
        <p:spPr>
          <a:xfrm>
            <a:off x="4345200" y="4297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طلبية جديدة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5"/>
          <p:cNvSpPr/>
          <p:nvPr/>
        </p:nvSpPr>
        <p:spPr>
          <a:xfrm>
            <a:off x="4322520" y="4754880"/>
            <a:ext cx="169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اعتماد طلبية الأصناف المستهلكة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6"/>
          <p:cNvSpPr/>
          <p:nvPr/>
        </p:nvSpPr>
        <p:spPr>
          <a:xfrm>
            <a:off x="6517800" y="3154680"/>
            <a:ext cx="1005480" cy="1005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6" name="Image 3" descr="preencoded.png"/>
          <p:cNvPicPr/>
          <p:nvPr/>
        </p:nvPicPr>
        <p:blipFill>
          <a:blip r:embed="rId4"/>
          <a:stretch/>
        </p:blipFill>
        <p:spPr>
          <a:xfrm>
            <a:off x="6739200" y="337608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Text 17"/>
          <p:cNvSpPr/>
          <p:nvPr/>
        </p:nvSpPr>
        <p:spPr>
          <a:xfrm>
            <a:off x="628920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١١:٠٠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8"/>
          <p:cNvSpPr/>
          <p:nvPr/>
        </p:nvSpPr>
        <p:spPr>
          <a:xfrm>
            <a:off x="6197760" y="4297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استلام بضاعة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9"/>
          <p:cNvSpPr/>
          <p:nvPr/>
        </p:nvSpPr>
        <p:spPr>
          <a:xfrm>
            <a:off x="6175080" y="4754880"/>
            <a:ext cx="169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تأكيد وصول الشحنة من المستودع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20"/>
          <p:cNvSpPr/>
          <p:nvPr/>
        </p:nvSpPr>
        <p:spPr>
          <a:xfrm>
            <a:off x="8370360" y="3154680"/>
            <a:ext cx="1005480" cy="1005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1" name="Image 4" descr="preencoded.png"/>
          <p:cNvPicPr/>
          <p:nvPr/>
        </p:nvPicPr>
        <p:blipFill>
          <a:blip r:embed="rId5"/>
          <a:stretch/>
        </p:blipFill>
        <p:spPr>
          <a:xfrm>
            <a:off x="8591760" y="337608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Text 21"/>
          <p:cNvSpPr/>
          <p:nvPr/>
        </p:nvSpPr>
        <p:spPr>
          <a:xfrm>
            <a:off x="814176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١:٠٠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2"/>
          <p:cNvSpPr/>
          <p:nvPr/>
        </p:nvSpPr>
        <p:spPr>
          <a:xfrm>
            <a:off x="8050320" y="4297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زيارة جودة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3"/>
          <p:cNvSpPr/>
          <p:nvPr/>
        </p:nvSpPr>
        <p:spPr>
          <a:xfrm>
            <a:off x="8027640" y="4754880"/>
            <a:ext cx="169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ملاحظات المفتش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24"/>
          <p:cNvSpPr/>
          <p:nvPr/>
        </p:nvSpPr>
        <p:spPr>
          <a:xfrm>
            <a:off x="10222920" y="3154680"/>
            <a:ext cx="1005480" cy="1005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6" name="Image 5" descr="preencoded.png"/>
          <p:cNvPicPr/>
          <p:nvPr/>
        </p:nvPicPr>
        <p:blipFill>
          <a:blip r:embed="rId6"/>
          <a:stretch/>
        </p:blipFill>
        <p:spPr>
          <a:xfrm>
            <a:off x="10444320" y="337608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Text 25"/>
          <p:cNvSpPr/>
          <p:nvPr/>
        </p:nvSpPr>
        <p:spPr>
          <a:xfrm>
            <a:off x="9994320" y="22402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٥:٠٠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6"/>
          <p:cNvSpPr/>
          <p:nvPr/>
        </p:nvSpPr>
        <p:spPr>
          <a:xfrm>
            <a:off x="9902880" y="4297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تقرير اليوم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7"/>
          <p:cNvSpPr/>
          <p:nvPr/>
        </p:nvSpPr>
        <p:spPr>
          <a:xfrm>
            <a:off x="9880200" y="4754880"/>
            <a:ext cx="169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مراجعة التقرير وإرسال للمدير العام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28"/>
          <p:cNvSpPr/>
          <p:nvPr/>
        </p:nvSpPr>
        <p:spPr>
          <a:xfrm>
            <a:off x="457200" y="612648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i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كل خطوة موثّقة — لا شيء يضيع في الزحمة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29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30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1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19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0" y="1188720"/>
            <a:ext cx="12191400" cy="54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0" y="5669280"/>
            <a:ext cx="12191400" cy="54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2"/>
          <p:cNvSpPr/>
          <p:nvPr/>
        </p:nvSpPr>
        <p:spPr>
          <a:xfrm>
            <a:off x="5318640" y="1600200"/>
            <a:ext cx="1554120" cy="155412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7" name="Image 0" descr="preencoded.png"/>
          <p:cNvPicPr/>
          <p:nvPr/>
        </p:nvPicPr>
        <p:blipFill>
          <a:blip r:embed="rId1"/>
          <a:stretch/>
        </p:blipFill>
        <p:spPr>
          <a:xfrm>
            <a:off x="5660640" y="1942200"/>
            <a:ext cx="870120" cy="87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Text 3"/>
          <p:cNvSpPr/>
          <p:nvPr/>
        </p:nvSpPr>
        <p:spPr>
          <a:xfrm>
            <a:off x="457200" y="3520440"/>
            <a:ext cx="1127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54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جولة مصوّرة داخل النظام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4"/>
          <p:cNvSpPr/>
          <p:nvPr/>
        </p:nvSpPr>
        <p:spPr>
          <a:xfrm>
            <a:off x="457200" y="4663440"/>
            <a:ext cx="1127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0" i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لقطات حيّة من الشاشات الفعلية — </a:t>
            </a:r>
            <a:r>
              <a:rPr lang="hi-IN" sz="2000" b="0" i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٢٢</a:t>
            </a:r>
            <a:r>
              <a:rPr lang="en-US" sz="2000" b="0" i="1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 صفحة من نظام رائد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20 / 45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شاشة الدخول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7" name="Image 0" descr="/tmp/pptx_work/screenshots_app/01_login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دخول آمن بالحساب — مع عرض اللغة والشعار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21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لوحة تحكم العمليات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6" name="Image 0" descr="/tmp/pptx_work/screenshots_app/02_dashboard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نظرة شاملة: طلبيات اليوم، نواقص، تحت الحد، جودة، تدريب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22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الجرد اليومي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Image 0" descr="/tmp/pptx_work/screenshots_app/03_inventory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6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إدخال الجرد صنفاً صنفاً مع مقارنة تلقائية بالكمية الدفترية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23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قائمة الطلبيات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4" name="Image 0" descr="/tmp/pptx_work/screenshots_app/04_order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كل طلبيات الفرع بحالاتها: قيد الاعتماد، تجهيز، صرف، وصول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24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طلبية يومية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3" name="Image 0" descr="/tmp/pptx_work/screenshots_app/05_daily_order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إنشاء طلبية جديدة من الأصناف الناقصة أو تحت الحد الأدنى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25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استلام البضاعة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2" name="Image 0" descr="/tmp/pptx_work/screenshots_app/06_receiving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تسجيل الكميات المستلمة مع إدخال فروقات (كسر، نقص، زيادة)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26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حالة المخزون في الفرع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1" name="Image 0" descr="/tmp/pptx_work/screenshots_app/07_branch_stock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2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كميات مباشرة لكل صنف مع تمييز ما هو تحت الحد الأدنى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27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تحويل بين الفروع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0" name="Image 0" descr="/tmp/pptx_work/screenshots_app/08_inter_branch_transfer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1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تحويل طارئ لتغطية نقص من فرع شقيق — باعتماد مدير المنطقة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28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طلبيات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9" name="Image 0" descr="/tmp/pptx_work/screenshots_app/09_warehouse_order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0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إدارة طلبيات جميع الفروع من شاشة واحدة في المستودع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29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تجهيز الطلبية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8" name="Image 0" descr="/tmp/pptx_work/screenshots_app/10_warehouse_picking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قائمة أصناف مرتبة للتجهيز من على الرف — مع تأكيد الكميات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30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مخزون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7" name="Image 0" descr="/tmp/pptx_work/screenshots_app/11_warehouse_stock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مخزون المستودع لحظياً + حركة الصرف والاستلام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31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تقارير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6" name="Image 0" descr="/tmp/pptx_work/screenshots_app/12_warehouse_report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7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تقارير تفصيلية للحركة والعجز الدفتري والطلبيات الصادرة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32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موافقات تحويلات الفروع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5" name="Image 0" descr="/tmp/pptx_work/screenshots_app/13_inter_branch_approval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6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شاشة مدير المنطقة لاعتماد التحويلات بين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33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داشبورد التوصيل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0" descr="/tmp/pptx_work/screenshots_app/14_delivery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الشحنات من المستودع للفرع — مع مسار السائق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34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أداء الفروع في التوصيل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3" name="Image 0" descr="/tmp/pptx_work/screenshots_app/15_delivery_branch_stat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4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مقارنة أوقات التوصيل والاستلام بين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35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زيارات الجودة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2" name="Image 0" descr="/tmp/pptx_work/screenshots_app/16_quality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3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قائمة الزيارات الجودة السابقة مع الدرجة والملاحظات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36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الإجراءات التصحيحية المفتوحة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1" name="Image 0" descr="/tmp/pptx_work/screenshots_app/17_quality_open_action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2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البنود الراسبة التي تحتاج معالجة في الفرع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37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تحليلات الجودة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0" name="Image 0" descr="/tmp/pptx_work/screenshots_app/18_quality_analytic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1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مقاييس أداء الفروع جودةً — اتجاهات وأقسام وأسباب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38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تقييمات التدريب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9" name="Image 0" descr="/tmp/pptx_work/screenshots_app/19_training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قوالب تقييم الباريستا ومدير الفرع — مع نتيجة تلقائية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39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الوثائق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8" name="Image 0" descr="/tmp/pptx_work/screenshots_app/20_document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9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تراخيص وعقود وشهادات — مع تنبيه قبل انتهاء الصلاحية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40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إدارة المستخدمين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7" name="Image 0" descr="/tmp/pptx_work/screenshots_app/21_admin_user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8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إضافة/تعديل موظفين وتحديد أدوارهم وصلاحياتهم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41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الإعدادات العامة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6" name="Image 0" descr="/tmp/pptx_work/screenshots_app/22_admin_setting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7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ضبط إعدادات النظام المركزية والتخصيصات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42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أين نحن الآن؟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3"/>
          <p:cNvSpPr/>
          <p:nvPr/>
        </p:nvSpPr>
        <p:spPr>
          <a:xfrm>
            <a:off x="457200" y="1371600"/>
            <a:ext cx="5943240" cy="46630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4"/>
          <p:cNvSpPr/>
          <p:nvPr/>
        </p:nvSpPr>
        <p:spPr>
          <a:xfrm>
            <a:off x="6336720" y="1371600"/>
            <a:ext cx="63720" cy="4663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5"/>
          <p:cNvSpPr/>
          <p:nvPr/>
        </p:nvSpPr>
        <p:spPr>
          <a:xfrm>
            <a:off x="457200" y="160020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4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المرحلة الحالية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6"/>
          <p:cNvSpPr/>
          <p:nvPr/>
        </p:nvSpPr>
        <p:spPr>
          <a:xfrm>
            <a:off x="457200" y="214884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0" i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تجربة محلية (</a:t>
            </a:r>
            <a:r>
              <a:rPr lang="en-US" sz="1600" b="0" i="1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LAN</a:t>
            </a:r>
            <a:r>
              <a:rPr lang="en-US" sz="1600" b="0" i="1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7"/>
          <p:cNvSpPr/>
          <p:nvPr/>
        </p:nvSpPr>
        <p:spPr>
          <a:xfrm>
            <a:off x="2971800" y="2697480"/>
            <a:ext cx="914040" cy="270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9" name="Image 0" descr="preencoded.png"/>
          <p:cNvPicPr/>
          <p:nvPr/>
        </p:nvPicPr>
        <p:blipFill>
          <a:blip r:embed="rId1"/>
          <a:stretch/>
        </p:blipFill>
        <p:spPr>
          <a:xfrm>
            <a:off x="5852160" y="29260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0" name="Text 8"/>
          <p:cNvSpPr/>
          <p:nvPr/>
        </p:nvSpPr>
        <p:spPr>
          <a:xfrm>
            <a:off x="640080" y="28803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كل الوحدات الأساسية مكتملة وشغّالة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1" name="Image 1" descr="preencoded.png"/>
          <p:cNvPicPr/>
          <p:nvPr/>
        </p:nvPicPr>
        <p:blipFill>
          <a:blip r:embed="rId2"/>
          <a:stretch/>
        </p:blipFill>
        <p:spPr>
          <a:xfrm>
            <a:off x="5852160" y="34747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2" name="Text 9"/>
          <p:cNvSpPr/>
          <p:nvPr/>
        </p:nvSpPr>
        <p:spPr>
          <a:xfrm>
            <a:off x="640080" y="34290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٣٢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فرع و</a:t>
            </a: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٢</a:t>
            </a:r>
            <a:r>
              <a:rPr lang="en-US" sz="1400" b="0" u="none" strike="noStrike">
                <a:solidFill>
                  <a:srgbClr val="1A0F08"/>
                </a:solidFill>
                <a:effectLst/>
                <a:uFillTx/>
                <a:latin typeface="Arial"/>
                <a:ea typeface="Arial"/>
              </a:rPr>
              <a:t> مستودع جاهزون في النظام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3" name="Image 2" descr="preencoded.png"/>
          <p:cNvPicPr/>
          <p:nvPr/>
        </p:nvPicPr>
        <p:blipFill>
          <a:blip r:embed="rId3"/>
          <a:stretch/>
        </p:blipFill>
        <p:spPr>
          <a:xfrm>
            <a:off x="5852160" y="402336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Text 10"/>
          <p:cNvSpPr/>
          <p:nvPr/>
        </p:nvSpPr>
        <p:spPr>
          <a:xfrm>
            <a:off x="640080" y="39776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حسابات مدراء المناطق تم إنشاؤها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5" name="Image 3" descr="preencoded.png"/>
          <p:cNvPicPr/>
          <p:nvPr/>
        </p:nvPicPr>
        <p:blipFill>
          <a:blip r:embed="rId4"/>
          <a:stretch/>
        </p:blipFill>
        <p:spPr>
          <a:xfrm>
            <a:off x="5852160" y="457200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6" name="Text 11"/>
          <p:cNvSpPr/>
          <p:nvPr/>
        </p:nvSpPr>
        <p:spPr>
          <a:xfrm>
            <a:off x="640080" y="45262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دعم كامل للعربية والإنجليزية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7" name="Image 4" descr="preencoded.png"/>
          <p:cNvPicPr/>
          <p:nvPr/>
        </p:nvPicPr>
        <p:blipFill>
          <a:blip r:embed="rId5"/>
          <a:stretch/>
        </p:blipFill>
        <p:spPr>
          <a:xfrm>
            <a:off x="5852160" y="51206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8" name="Text 12"/>
          <p:cNvSpPr/>
          <p:nvPr/>
        </p:nvSpPr>
        <p:spPr>
          <a:xfrm>
            <a:off x="640080" y="507492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A0F08"/>
                </a:solidFill>
                <a:effectLst/>
                <a:uFillTx/>
                <a:latin typeface="Arial"/>
                <a:cs typeface="Arial"/>
              </a:rPr>
              <a:t>تم اجتياز مراجعة الأمان والصلاحيات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3"/>
          <p:cNvSpPr/>
          <p:nvPr/>
        </p:nvSpPr>
        <p:spPr>
          <a:xfrm>
            <a:off x="6720840" y="1371600"/>
            <a:ext cx="5010480" cy="2194200"/>
          </a:xfrm>
          <a:prstGeom prst="roundRect">
            <a:avLst>
              <a:gd name="adj" fmla="val 5000"/>
            </a:avLst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14"/>
          <p:cNvSpPr/>
          <p:nvPr/>
        </p:nvSpPr>
        <p:spPr>
          <a:xfrm>
            <a:off x="6720840" y="1645920"/>
            <a:ext cx="5010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٪</a:t>
            </a:r>
            <a:r>
              <a:rPr lang="hi-IN" sz="80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١٠٠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5"/>
          <p:cNvSpPr/>
          <p:nvPr/>
        </p:nvSpPr>
        <p:spPr>
          <a:xfrm>
            <a:off x="6720840" y="2880360"/>
            <a:ext cx="5010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من وحدات النظام الأساسية جاهزة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6"/>
          <p:cNvSpPr/>
          <p:nvPr/>
        </p:nvSpPr>
        <p:spPr>
          <a:xfrm>
            <a:off x="6720840" y="3749040"/>
            <a:ext cx="5010480" cy="2285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7"/>
          <p:cNvSpPr/>
          <p:nvPr/>
        </p:nvSpPr>
        <p:spPr>
          <a:xfrm>
            <a:off x="7040880" y="4069080"/>
            <a:ext cx="914040" cy="91404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4" name="Image 5" descr="preencoded.png"/>
          <p:cNvPicPr/>
          <p:nvPr/>
        </p:nvPicPr>
        <p:blipFill>
          <a:blip r:embed="rId6"/>
          <a:stretch/>
        </p:blipFill>
        <p:spPr>
          <a:xfrm>
            <a:off x="7242120" y="42703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5" name="Text 18"/>
          <p:cNvSpPr/>
          <p:nvPr/>
        </p:nvSpPr>
        <p:spPr>
          <a:xfrm>
            <a:off x="8092440" y="406908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جاهز للانتقال إلى مرحلة أوسع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19"/>
          <p:cNvSpPr/>
          <p:nvPr/>
        </p:nvSpPr>
        <p:spPr>
          <a:xfrm>
            <a:off x="8092440" y="4663440"/>
            <a:ext cx="3520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بعد نجاح تجربة </a:t>
            </a:r>
            <a:r>
              <a:rPr lang="en-US" sz="1300" b="0" u="none" strike="noStrike">
                <a:solidFill>
                  <a:srgbClr val="8B6B47"/>
                </a:solidFill>
                <a:effectLst/>
                <a:uFillTx/>
                <a:latin typeface="Arial"/>
                <a:ea typeface="Arial"/>
              </a:rPr>
              <a:t>LAN</a:t>
            </a:r>
            <a:r>
              <a:rPr lang="hi-IN" sz="13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، نرفع النظام على سيرفر دائم ليعمل من أي مكان.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20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21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22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43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الخطوة القادمة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3"/>
          <p:cNvSpPr/>
          <p:nvPr/>
        </p:nvSpPr>
        <p:spPr>
          <a:xfrm>
            <a:off x="640080" y="2468880"/>
            <a:ext cx="1645560" cy="164556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4" name="Image 0" descr="preencoded.png"/>
          <p:cNvPicPr/>
          <p:nvPr/>
        </p:nvPicPr>
        <p:blipFill>
          <a:blip r:embed="rId1"/>
          <a:stretch/>
        </p:blipFill>
        <p:spPr>
          <a:xfrm>
            <a:off x="1002240" y="2831040"/>
            <a:ext cx="92124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5" name="Text 4"/>
          <p:cNvSpPr/>
          <p:nvPr/>
        </p:nvSpPr>
        <p:spPr>
          <a:xfrm>
            <a:off x="457200" y="42519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الطريق أمامنا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5"/>
          <p:cNvSpPr/>
          <p:nvPr/>
        </p:nvSpPr>
        <p:spPr>
          <a:xfrm>
            <a:off x="2560320" y="1234440"/>
            <a:ext cx="2258280" cy="43887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6"/>
          <p:cNvSpPr/>
          <p:nvPr/>
        </p:nvSpPr>
        <p:spPr>
          <a:xfrm>
            <a:off x="4754880" y="1234440"/>
            <a:ext cx="63720" cy="43887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7"/>
          <p:cNvSpPr/>
          <p:nvPr/>
        </p:nvSpPr>
        <p:spPr>
          <a:xfrm>
            <a:off x="2560320" y="1371600"/>
            <a:ext cx="225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36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٠١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8"/>
          <p:cNvSpPr/>
          <p:nvPr/>
        </p:nvSpPr>
        <p:spPr>
          <a:xfrm>
            <a:off x="3141000" y="2103120"/>
            <a:ext cx="1096920" cy="109692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0" name="Image 1" descr="preencoded.png"/>
          <p:cNvPicPr/>
          <p:nvPr/>
        </p:nvPicPr>
        <p:blipFill>
          <a:blip r:embed="rId2"/>
          <a:stretch/>
        </p:blipFill>
        <p:spPr>
          <a:xfrm>
            <a:off x="3382200" y="2344680"/>
            <a:ext cx="61416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1" name="Text 9"/>
          <p:cNvSpPr/>
          <p:nvPr/>
        </p:nvSpPr>
        <p:spPr>
          <a:xfrm>
            <a:off x="2697480" y="3291840"/>
            <a:ext cx="198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نشر سحابي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10"/>
          <p:cNvSpPr/>
          <p:nvPr/>
        </p:nvSpPr>
        <p:spPr>
          <a:xfrm>
            <a:off x="2697480" y="3886200"/>
            <a:ext cx="1983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سيرفر دائم متاح من أي مكان، </a:t>
            </a: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٢٤</a:t>
            </a:r>
            <a:r>
              <a:rPr lang="en-US" sz="1200" b="0" u="none" strike="noStrike">
                <a:solidFill>
                  <a:srgbClr val="8B6B47"/>
                </a:solidFill>
                <a:effectLst/>
                <a:uFillTx/>
                <a:latin typeface="Arial"/>
                <a:ea typeface="Arial"/>
              </a:rPr>
              <a:t> ساعة </a:t>
            </a: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٧</a:t>
            </a:r>
            <a:r>
              <a:rPr lang="en-US" sz="1200" b="0" u="none" strike="noStrike">
                <a:solidFill>
                  <a:srgbClr val="8B6B47"/>
                </a:solidFill>
                <a:effectLst/>
                <a:uFillTx/>
                <a:latin typeface="Arial"/>
                <a:ea typeface="Arial"/>
              </a:rPr>
              <a:t> أيام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11"/>
          <p:cNvSpPr/>
          <p:nvPr/>
        </p:nvSpPr>
        <p:spPr>
          <a:xfrm>
            <a:off x="4910400" y="1234440"/>
            <a:ext cx="2258280" cy="43887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12"/>
          <p:cNvSpPr/>
          <p:nvPr/>
        </p:nvSpPr>
        <p:spPr>
          <a:xfrm>
            <a:off x="7104960" y="1234440"/>
            <a:ext cx="63720" cy="43887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13"/>
          <p:cNvSpPr/>
          <p:nvPr/>
        </p:nvSpPr>
        <p:spPr>
          <a:xfrm>
            <a:off x="4910400" y="1371600"/>
            <a:ext cx="225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36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٠٢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14"/>
          <p:cNvSpPr/>
          <p:nvPr/>
        </p:nvSpPr>
        <p:spPr>
          <a:xfrm>
            <a:off x="5491080" y="2103120"/>
            <a:ext cx="1096920" cy="109692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7" name="Image 2" descr="preencoded.png"/>
          <p:cNvPicPr/>
          <p:nvPr/>
        </p:nvPicPr>
        <p:blipFill>
          <a:blip r:embed="rId3"/>
          <a:stretch/>
        </p:blipFill>
        <p:spPr>
          <a:xfrm>
            <a:off x="5732280" y="2344680"/>
            <a:ext cx="61416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8" name="Text 15"/>
          <p:cNvSpPr/>
          <p:nvPr/>
        </p:nvSpPr>
        <p:spPr>
          <a:xfrm>
            <a:off x="5047560" y="3291840"/>
            <a:ext cx="198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تطبيق موبايل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6"/>
          <p:cNvSpPr/>
          <p:nvPr/>
        </p:nvSpPr>
        <p:spPr>
          <a:xfrm>
            <a:off x="5047560" y="3886200"/>
            <a:ext cx="1983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لموظفي الفروع لإدخال الجرد من الهاتف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17"/>
          <p:cNvSpPr/>
          <p:nvPr/>
        </p:nvSpPr>
        <p:spPr>
          <a:xfrm>
            <a:off x="7260480" y="1234440"/>
            <a:ext cx="2258280" cy="43887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18"/>
          <p:cNvSpPr/>
          <p:nvPr/>
        </p:nvSpPr>
        <p:spPr>
          <a:xfrm>
            <a:off x="9455040" y="1234440"/>
            <a:ext cx="63720" cy="43887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19"/>
          <p:cNvSpPr/>
          <p:nvPr/>
        </p:nvSpPr>
        <p:spPr>
          <a:xfrm>
            <a:off x="7260480" y="1371600"/>
            <a:ext cx="225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36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٠٣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20"/>
          <p:cNvSpPr/>
          <p:nvPr/>
        </p:nvSpPr>
        <p:spPr>
          <a:xfrm>
            <a:off x="7841160" y="2103120"/>
            <a:ext cx="1096920" cy="109692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4" name="Image 3" descr="preencoded.png"/>
          <p:cNvPicPr/>
          <p:nvPr/>
        </p:nvPicPr>
        <p:blipFill>
          <a:blip r:embed="rId4"/>
          <a:stretch/>
        </p:blipFill>
        <p:spPr>
          <a:xfrm>
            <a:off x="8082360" y="2344680"/>
            <a:ext cx="61416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5" name="Text 21"/>
          <p:cNvSpPr/>
          <p:nvPr/>
        </p:nvSpPr>
        <p:spPr>
          <a:xfrm>
            <a:off x="7397640" y="3291840"/>
            <a:ext cx="198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ربط مع نقاط البيع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22"/>
          <p:cNvSpPr/>
          <p:nvPr/>
        </p:nvSpPr>
        <p:spPr>
          <a:xfrm>
            <a:off x="7397640" y="3886200"/>
            <a:ext cx="1983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استهلاك محسوب تلقائياً من المبيعات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23"/>
          <p:cNvSpPr/>
          <p:nvPr/>
        </p:nvSpPr>
        <p:spPr>
          <a:xfrm>
            <a:off x="9610200" y="1234440"/>
            <a:ext cx="2258280" cy="43887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24"/>
          <p:cNvSpPr/>
          <p:nvPr/>
        </p:nvSpPr>
        <p:spPr>
          <a:xfrm>
            <a:off x="11804760" y="1234440"/>
            <a:ext cx="63720" cy="43887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25"/>
          <p:cNvSpPr/>
          <p:nvPr/>
        </p:nvSpPr>
        <p:spPr>
          <a:xfrm>
            <a:off x="9610200" y="1371600"/>
            <a:ext cx="225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3600" b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٠٤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26"/>
          <p:cNvSpPr/>
          <p:nvPr/>
        </p:nvSpPr>
        <p:spPr>
          <a:xfrm>
            <a:off x="10190880" y="2103120"/>
            <a:ext cx="1096920" cy="109692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1" name="Image 4" descr="preencoded.png"/>
          <p:cNvPicPr/>
          <p:nvPr/>
        </p:nvPicPr>
        <p:blipFill>
          <a:blip r:embed="rId5"/>
          <a:stretch/>
        </p:blipFill>
        <p:spPr>
          <a:xfrm>
            <a:off x="10432440" y="2344680"/>
            <a:ext cx="61416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2" name="Text 27"/>
          <p:cNvSpPr/>
          <p:nvPr/>
        </p:nvSpPr>
        <p:spPr>
          <a:xfrm>
            <a:off x="9747360" y="3291840"/>
            <a:ext cx="198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3D2817"/>
                </a:solidFill>
                <a:effectLst/>
                <a:uFillTx/>
                <a:latin typeface="Arial"/>
                <a:cs typeface="Arial"/>
              </a:rPr>
              <a:t>تنبؤ بالاستهلاك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28"/>
          <p:cNvSpPr/>
          <p:nvPr/>
        </p:nvSpPr>
        <p:spPr>
          <a:xfrm>
            <a:off x="9747360" y="3886200"/>
            <a:ext cx="1983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hi-IN" sz="1200" b="0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طلبيات مقترحة بناءً على سلوك الفرع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29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30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31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44 / 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Shape 0"/>
          <p:cNvSpPr/>
          <p:nvPr/>
        </p:nvSpPr>
        <p:spPr>
          <a:xfrm>
            <a:off x="0" y="1188720"/>
            <a:ext cx="12191400" cy="54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1"/>
          <p:cNvSpPr/>
          <p:nvPr/>
        </p:nvSpPr>
        <p:spPr>
          <a:xfrm>
            <a:off x="0" y="5669280"/>
            <a:ext cx="12191400" cy="54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"/>
          <p:cNvSpPr/>
          <p:nvPr/>
        </p:nvSpPr>
        <p:spPr>
          <a:xfrm>
            <a:off x="5318640" y="1417320"/>
            <a:ext cx="1554120" cy="155412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0" name="Image 0" descr="preencoded.png"/>
          <p:cNvPicPr/>
          <p:nvPr/>
        </p:nvPicPr>
        <p:blipFill>
          <a:blip r:embed="rId1"/>
          <a:stretch/>
        </p:blipFill>
        <p:spPr>
          <a:xfrm>
            <a:off x="5660640" y="1759320"/>
            <a:ext cx="870120" cy="87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1" name="Text 3"/>
          <p:cNvSpPr/>
          <p:nvPr/>
        </p:nvSpPr>
        <p:spPr>
          <a:xfrm>
            <a:off x="457200" y="3383280"/>
            <a:ext cx="1127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7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شكراً لكم</a:t>
            </a:r>
            <a:endParaRPr lang="en-US" sz="7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4"/>
          <p:cNvSpPr/>
          <p:nvPr/>
        </p:nvSpPr>
        <p:spPr>
          <a:xfrm>
            <a:off x="457200" y="4846320"/>
            <a:ext cx="1127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0" i="1" u="none" strike="noStrike">
                <a:solidFill>
                  <a:srgbClr val="D4A853"/>
                </a:solidFill>
                <a:effectLst/>
                <a:uFillTx/>
                <a:latin typeface="Arial"/>
                <a:cs typeface="Arial"/>
              </a:rPr>
              <a:t>أسئلة؟ مقترحات؟ — نحن جاهزون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5"/>
          <p:cNvSpPr/>
          <p:nvPr/>
        </p:nvSpPr>
        <p:spPr>
          <a:xfrm>
            <a:off x="457200" y="594360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— </a:t>
            </a:r>
            <a:r>
              <a:rPr lang="en-US" sz="14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LibreOffice/26.2.2.2$Linux_X86_64 LibreOffice_project/620$Build-2</Application>
  <AppVersion>15.0000</AppVersion>
  <Words>0</Words>
  <Paragraphs>0</Paragraphs>
  <Company>ONDA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2026-04-18T23:07:41Z</dcterms:created>
  <dc:creator>Raed Inventory System</dc:creator>
  <dc:description/>
  <dc:language>en-US</dc:language>
  <cp:lastModifiedBy>Raed Inventory System</cp:lastModifiedBy>
  <dcterms:modified xsi:type="dcterms:W3CDTF">2026-04-18T23:07:41Z</dcterms:modified>
  <cp:revision>1</cp:revision>
  <dc:subject>PptxGenJS Presentation</dc:subject>
  <dc:title>نظام رائد للمخزون — عرض تعريفي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45</vt:r8>
  </property>
  <property fmtid="{D5CDD505-2E9C-101B-9397-08002B2CF9AE}" pid="3" name="PresentationFormat">
    <vt:lpwstr>On-screen Show (16:9)</vt:lpwstr>
  </property>
  <property fmtid="{D5CDD505-2E9C-101B-9397-08002B2CF9AE}" pid="4" name="Slides">
    <vt:r8>45</vt:r8>
  </property>
</Properties>
</file>